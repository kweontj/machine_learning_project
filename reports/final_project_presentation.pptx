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12280" y="0"/>
            <a:ext cx="5376672" cy="68580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530352"/>
            <a:ext cx="1188720" cy="11887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83664" y="530352"/>
            <a:ext cx="1188720" cy="118872"/>
          </a:xfrm>
          <a:prstGeom prst="rect">
            <a:avLst/>
          </a:prstGeom>
          <a:solidFill>
            <a:srgbClr val="08B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0" y="530352"/>
            <a:ext cx="1188720" cy="118872"/>
          </a:xfrm>
          <a:prstGeom prst="rect">
            <a:avLst/>
          </a:prstGeom>
          <a:solidFill>
            <a:srgbClr val="84C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85216" y="987552"/>
            <a:ext cx="2194560" cy="219456"/>
          </a:xfrm>
          <a:prstGeom prst="round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>
            <a:normAutofit/>
          </a:bodyPr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2563EB"/>
                </a:solidFill>
                <a:latin typeface="Noto Sans CJK KR"/>
              </a:rPr>
              <a:t>AUTOMOTIVE AI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481328"/>
            <a:ext cx="4480560" cy="12252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141926"/>
                </a:solidFill>
                <a:latin typeface="Noto Sans CJK KR"/>
              </a:rPr>
              <a:t>AI 차량 점검
리포트 시스템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2907792"/>
            <a:ext cx="425196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06E80"/>
                </a:solidFill>
                <a:latin typeface="Noto Sans CJK KR"/>
              </a:rPr>
              <a:t>차량 센서 데이터 학습 -&gt; 새 데이터 적용 -&gt; 결과 도출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3493008"/>
            <a:ext cx="2487168" cy="9509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040" b="0">
                <a:solidFill>
                  <a:srgbClr val="141926"/>
                </a:solidFill>
                <a:latin typeface="Noto Sans CJK KR"/>
              </a:rPr>
              <a:t>• 전처리</a:t>
            </a:r>
          </a:p>
          <a:p>
            <a:pPr algn="l">
              <a:spcAft>
                <a:spcPts val="200"/>
              </a:spcAft>
            </a:pPr>
            <a:r>
              <a:rPr sz="1040" b="0">
                <a:solidFill>
                  <a:srgbClr val="141926"/>
                </a:solidFill>
                <a:latin typeface="Noto Sans CJK KR"/>
              </a:rPr>
              <a:t>• 머신러닝 알고리즘</a:t>
            </a:r>
          </a:p>
          <a:p>
            <a:pPr algn="l">
              <a:spcAft>
                <a:spcPts val="200"/>
              </a:spcAft>
            </a:pPr>
            <a:r>
              <a:rPr sz="1040" b="0">
                <a:solidFill>
                  <a:srgbClr val="141926"/>
                </a:solidFill>
                <a:latin typeface="Noto Sans CJK KR"/>
              </a:rPr>
              <a:t>• 성능 평가</a:t>
            </a:r>
          </a:p>
          <a:p>
            <a:pPr algn="l">
              <a:spcAft>
                <a:spcPts val="200"/>
              </a:spcAft>
            </a:pPr>
            <a:r>
              <a:rPr sz="1040" b="0">
                <a:solidFill>
                  <a:srgbClr val="141926"/>
                </a:solidFill>
                <a:latin typeface="Noto Sans CJK KR"/>
              </a:rPr>
              <a:t>• 시각적 결과물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5138928"/>
            <a:ext cx="1280160" cy="329184"/>
          </a:xfrm>
          <a:prstGeom prst="roundRect">
            <a:avLst/>
          </a:prstGeom>
          <a:solidFill>
            <a:srgbClr val="E6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>
            <a:normAutofit/>
          </a:bodyPr>
          <a:lstStyle/>
          <a:p>
            <a:pPr algn="ctr">
              <a:spcAft>
                <a:spcPts val="200"/>
              </a:spcAft>
            </a:pPr>
            <a:r>
              <a:rPr sz="1550" b="1">
                <a:solidFill>
                  <a:srgbClr val="10B981"/>
                </a:solidFill>
                <a:latin typeface="Noto Sans CJK KR"/>
              </a:rPr>
              <a:t>0.965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" y="5495544"/>
            <a:ext cx="128016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606E80"/>
                </a:solidFill>
                <a:latin typeface="Noto Sans CJK KR"/>
              </a:rPr>
              <a:t>OBD/CAN F1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84831" y="5138928"/>
            <a:ext cx="1280160" cy="329184"/>
          </a:xfrm>
          <a:prstGeom prst="roundRect">
            <a:avLst/>
          </a:prstGeom>
          <a:solidFill>
            <a:srgbClr val="E2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>
            <a:normAutofit/>
          </a:bodyPr>
          <a:lstStyle/>
          <a:p>
            <a:pPr algn="ctr">
              <a:spcAft>
                <a:spcPts val="200"/>
              </a:spcAft>
            </a:pPr>
            <a:r>
              <a:rPr sz="1550" b="1">
                <a:solidFill>
                  <a:srgbClr val="08BCDA"/>
                </a:solidFill>
                <a:latin typeface="Noto Sans CJK KR"/>
              </a:rPr>
              <a:t>0.818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84831" y="5495544"/>
            <a:ext cx="128016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606E80"/>
                </a:solidFill>
                <a:latin typeface="Noto Sans CJK KR"/>
              </a:rPr>
              <a:t>Mendeley F1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5138928"/>
            <a:ext cx="1280160" cy="329184"/>
          </a:xfrm>
          <a:prstGeom prst="roundRect">
            <a:avLst/>
          </a:prstGeom>
          <a:solidFill>
            <a:srgbClr val="FFE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>
            <a:normAutofit/>
          </a:bodyPr>
          <a:lstStyle/>
          <a:p>
            <a:pPr algn="ctr">
              <a:spcAft>
                <a:spcPts val="200"/>
              </a:spcAft>
            </a:pPr>
            <a:r>
              <a:rPr sz="1550" b="1">
                <a:solidFill>
                  <a:srgbClr val="F97316"/>
                </a:solidFill>
                <a:latin typeface="Noto Sans CJK KR"/>
              </a:rPr>
              <a:t>0.791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66160" y="5495544"/>
            <a:ext cx="128016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606E80"/>
                </a:solidFill>
                <a:latin typeface="Noto Sans CJK KR"/>
              </a:rPr>
              <a:t>정비 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42432" y="640080"/>
            <a:ext cx="5897880" cy="544068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08192" y="960120"/>
            <a:ext cx="2514600" cy="214884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08192" y="960120"/>
            <a:ext cx="25146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7" y="1078992"/>
            <a:ext cx="2258568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OBD/CAN Confusion</a:t>
            </a:r>
          </a:p>
        </p:txBody>
      </p:sp>
      <p:pic>
        <p:nvPicPr>
          <p:cNvPr id="21" name="Picture 20" descr="obd_can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2888" y="1325880"/>
            <a:ext cx="2045208" cy="1673352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8887968" y="960120"/>
            <a:ext cx="2084831" cy="214884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87968" y="960120"/>
            <a:ext cx="2084831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15984" y="1078992"/>
            <a:ext cx="1828799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Feature Importance</a:t>
            </a:r>
          </a:p>
        </p:txBody>
      </p:sp>
      <p:pic>
        <p:nvPicPr>
          <p:cNvPr id="25" name="Picture 24" descr="mendeley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7696" y="1522998"/>
            <a:ext cx="1865376" cy="1279114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6108192" y="3383280"/>
            <a:ext cx="3246120" cy="201168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08192" y="3383280"/>
            <a:ext cx="324612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6207" y="3502152"/>
            <a:ext cx="2990087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Maintenance Distribution</a:t>
            </a:r>
          </a:p>
        </p:txBody>
      </p:sp>
      <p:pic>
        <p:nvPicPr>
          <p:cNvPr id="29" name="Picture 28" descr="vehicle_maintenance_feature_distrib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4101711"/>
            <a:ext cx="3026663" cy="830848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9637776" y="3383280"/>
            <a:ext cx="1335024" cy="201168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37776" y="3383280"/>
            <a:ext cx="1335024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65792" y="3502152"/>
            <a:ext cx="1078992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AI4I Confusion</a:t>
            </a:r>
          </a:p>
        </p:txBody>
      </p:sp>
      <p:pic>
        <p:nvPicPr>
          <p:cNvPr id="33" name="Picture 32" descr="ai4i_confusion_matr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7503" y="4060767"/>
            <a:ext cx="1115568" cy="9127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503152" y="502920"/>
            <a:ext cx="310896" cy="3108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137392" y="502920"/>
            <a:ext cx="201168" cy="201168"/>
          </a:xfrm>
          <a:prstGeom prst="roundRect">
            <a:avLst/>
          </a:prstGeom>
          <a:solidFill>
            <a:srgbClr val="F5B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310896"/>
            <a:ext cx="38404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2563EB"/>
                </a:solidFill>
                <a:latin typeface="Noto Sans CJK KR"/>
              </a:rPr>
              <a:t>DATA TO DECISION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66928"/>
            <a:ext cx="8412480" cy="4937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1926"/>
                </a:solidFill>
                <a:latin typeface="Noto Sans CJK KR"/>
              </a:rPr>
              <a:t>프로젝트 핵심 흐름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44752"/>
            <a:ext cx="2468880" cy="1700784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59" y="1682496"/>
            <a:ext cx="493776" cy="320040"/>
          </a:xfrm>
          <a:prstGeom prst="roundRect">
            <a:avLst/>
          </a:prstGeom>
          <a:solidFill>
            <a:srgbClr val="E2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8BCDA"/>
                </a:solidFill>
                <a:latin typeface="Noto Sans CJK KR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4752" y="1645920"/>
            <a:ext cx="13716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926"/>
                </a:solidFill>
                <a:latin typeface="Noto Sans CJK KR"/>
              </a:rPr>
              <a:t>Raw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6968" y="2267712"/>
            <a:ext cx="1975104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ctr">
              <a:spcAft>
                <a:spcPts val="200"/>
              </a:spcAft>
            </a:pPr>
            <a:r>
              <a:rPr sz="880" b="1">
                <a:solidFill>
                  <a:srgbClr val="606E80"/>
                </a:solidFill>
                <a:latin typeface="Noto Sans CJK KR"/>
              </a:rPr>
              <a:t>CSV/ZIP 센서·정비 데이터 수집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0128" y="1444752"/>
            <a:ext cx="2468880" cy="1700784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93008" y="1682496"/>
            <a:ext cx="493776" cy="320040"/>
          </a:xfrm>
          <a:prstGeom prst="round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2563EB"/>
                </a:solidFill>
                <a:latin typeface="Noto Sans CJK KR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1645920"/>
            <a:ext cx="13716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926"/>
                </a:solidFill>
                <a:latin typeface="Noto Sans CJK KR"/>
              </a:rPr>
              <a:t>Preprocess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57016" y="2267712"/>
            <a:ext cx="1975104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ctr">
              <a:spcAft>
                <a:spcPts val="200"/>
              </a:spcAft>
            </a:pPr>
            <a:r>
              <a:rPr sz="880" b="1">
                <a:solidFill>
                  <a:srgbClr val="606E80"/>
                </a:solidFill>
                <a:latin typeface="Noto Sans CJK KR"/>
              </a:rPr>
              <a:t>컬럼 표준화, 결측 제거, 라벨 매핑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0176" y="1444752"/>
            <a:ext cx="2468880" cy="1700784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63056" y="1682496"/>
            <a:ext cx="493776" cy="320040"/>
          </a:xfrm>
          <a:prstGeom prst="roundRect">
            <a:avLst/>
          </a:prstGeom>
          <a:solidFill>
            <a:srgbClr val="FFF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5BE14"/>
                </a:solidFill>
                <a:latin typeface="Noto Sans CJK KR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84848" y="1645920"/>
            <a:ext cx="13716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926"/>
                </a:solidFill>
                <a:latin typeface="Noto Sans CJK KR"/>
              </a:rPr>
              <a:t>Feature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7064" y="2267712"/>
            <a:ext cx="1975104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ctr">
              <a:spcAft>
                <a:spcPts val="200"/>
              </a:spcAft>
            </a:pPr>
            <a:r>
              <a:rPr sz="880" b="1">
                <a:solidFill>
                  <a:srgbClr val="606E80"/>
                </a:solidFill>
                <a:latin typeface="Noto Sans CJK KR"/>
              </a:rPr>
              <a:t>센서 magnitude, trip 통계, one-hot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50224" y="1444752"/>
            <a:ext cx="2468880" cy="1700784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33104" y="1682496"/>
            <a:ext cx="493776" cy="320040"/>
          </a:xfrm>
          <a:prstGeom prst="roundRect">
            <a:avLst/>
          </a:prstGeom>
          <a:solidFill>
            <a:srgbClr val="E6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0B981"/>
                </a:solidFill>
                <a:latin typeface="Noto Sans CJK KR"/>
              </a:rPr>
              <a:t>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54896" y="1645920"/>
            <a:ext cx="13716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926"/>
                </a:solidFill>
                <a:latin typeface="Noto Sans CJK KR"/>
              </a:rPr>
              <a:t>ML &amp; Report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97112" y="2267712"/>
            <a:ext cx="1975104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ctr">
              <a:spcAft>
                <a:spcPts val="200"/>
              </a:spcAft>
            </a:pPr>
            <a:r>
              <a:rPr sz="880" b="1">
                <a:solidFill>
                  <a:srgbClr val="606E80"/>
                </a:solidFill>
                <a:latin typeface="Noto Sans CJK KR"/>
              </a:rPr>
              <a:t>분류·이상 탐지 후 그래프 생성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44368" y="2139696"/>
            <a:ext cx="237744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2563EB"/>
                </a:solidFill>
                <a:latin typeface="Noto Sans CJK KR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14416" y="2139696"/>
            <a:ext cx="237744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5BE14"/>
                </a:solidFill>
                <a:latin typeface="Noto Sans CJK KR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84464" y="2139696"/>
            <a:ext cx="237744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0B981"/>
                </a:solidFill>
                <a:latin typeface="Noto Sans CJK KR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886200"/>
            <a:ext cx="5138928" cy="1444752"/>
          </a:xfrm>
          <a:prstGeom prst="round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60704" y="4160520"/>
            <a:ext cx="45720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563EB"/>
                </a:solidFill>
                <a:latin typeface="Noto Sans CJK KR"/>
              </a:rPr>
              <a:t>프로젝트 포인트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4608576"/>
            <a:ext cx="4498848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41926"/>
                </a:solidFill>
                <a:latin typeface="Noto Sans CJK KR"/>
              </a:rPr>
              <a:t>학습 데이터만 맞추는 것이 아니라, 새 데이터에도 같은 전처리와 feature schema를 적용해 결과를 낼 수 있게 구성했습니다.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886200"/>
            <a:ext cx="5065776" cy="1444752"/>
          </a:xfrm>
          <a:prstGeom prst="roundRect">
            <a:avLst/>
          </a:prstGeom>
          <a:solidFill>
            <a:srgbClr val="FFE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0" y="4160520"/>
            <a:ext cx="438912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97316"/>
                </a:solidFill>
                <a:latin typeface="Noto Sans CJK KR"/>
              </a:rPr>
              <a:t>산출물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0" y="4608576"/>
            <a:ext cx="437083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41926"/>
                </a:solidFill>
                <a:latin typeface="Noto Sans CJK KR"/>
              </a:rPr>
              <a:t>metrics JSON, confusion matrix, feature importance, F1, distribution 그래프와 최종 PDF/PPT를 생성했습니다.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B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503152" y="502920"/>
            <a:ext cx="310896" cy="310896"/>
          </a:xfrm>
          <a:prstGeom prst="roundRect">
            <a:avLst/>
          </a:prstGeom>
          <a:solidFill>
            <a:srgbClr val="08B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137392" y="502920"/>
            <a:ext cx="201168" cy="201168"/>
          </a:xfrm>
          <a:prstGeom prst="roundRect">
            <a:avLst/>
          </a:prstGeom>
          <a:solidFill>
            <a:srgbClr val="F5B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310896"/>
            <a:ext cx="38404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08BCDA"/>
                </a:solidFill>
                <a:latin typeface="Noto Sans CJK KR"/>
              </a:rPr>
              <a:t>FIVE EXPERIMENTS + ONE VERIFIED DATASET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66928"/>
            <a:ext cx="8412480" cy="4937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1926"/>
                </a:solidFill>
                <a:latin typeface="Noto Sans CJK KR"/>
              </a:rPr>
              <a:t>사용 데이터셋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43584"/>
            <a:ext cx="3456432" cy="102412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" y="1417320"/>
            <a:ext cx="310896" cy="310896"/>
          </a:xfrm>
          <a:prstGeom prst="roundRect">
            <a:avLst/>
          </a:prstGeom>
          <a:solidFill>
            <a:srgbClr val="E2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99616"/>
            <a:ext cx="146304" cy="146304"/>
          </a:xfrm>
          <a:prstGeom prst="roundRect">
            <a:avLst/>
          </a:prstGeom>
          <a:solidFill>
            <a:srgbClr val="08B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16152" y="1371600"/>
            <a:ext cx="2697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41926"/>
                </a:solidFill>
                <a:latin typeface="Noto Sans CJK KR"/>
              </a:rPr>
              <a:t>Mendeley phone sensor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6152" y="1636776"/>
            <a:ext cx="96012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08BCDA"/>
                </a:solidFill>
                <a:latin typeface="Noto Sans CJK KR"/>
              </a:rPr>
              <a:t>14,249 rows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76272" y="1636776"/>
            <a:ext cx="16916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606E80"/>
                </a:solidFill>
                <a:latin typeface="Noto Sans CJK KR"/>
              </a:rPr>
              <a:t>normal/aggressive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6152" y="1911095"/>
            <a:ext cx="2606040" cy="18288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>
            <a:normAutofit/>
          </a:bodyPr>
          <a:lstStyle/>
          <a:p>
            <a:pPr algn="l">
              <a:spcAft>
                <a:spcPts val="200"/>
              </a:spcAft>
            </a:pPr>
            <a:r>
              <a:rPr sz="760" b="0">
                <a:solidFill>
                  <a:srgbClr val="141926"/>
                </a:solidFill>
                <a:latin typeface="Noto Sans CJK KR"/>
              </a:rPr>
              <a:t>standardized k-NN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243584"/>
            <a:ext cx="3456432" cy="102412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07992" y="1417320"/>
            <a:ext cx="310896" cy="310896"/>
          </a:xfrm>
          <a:prstGeom prst="roundRect">
            <a:avLst/>
          </a:prstGeom>
          <a:solidFill>
            <a:srgbClr val="E6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90288" y="1499616"/>
            <a:ext cx="146304" cy="14630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37760" y="1371600"/>
            <a:ext cx="2697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41926"/>
                </a:solidFill>
                <a:latin typeface="Noto Sans CJK KR"/>
              </a:rPr>
              <a:t>OBD-II/CAN Driving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0" y="1636776"/>
            <a:ext cx="96012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10B981"/>
                </a:solidFill>
                <a:latin typeface="Noto Sans CJK KR"/>
              </a:rPr>
              <a:t>555,000 rows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97880" y="1636776"/>
            <a:ext cx="16916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606E80"/>
                </a:solidFill>
                <a:latin typeface="Noto Sans CJK KR"/>
              </a:rPr>
              <a:t>moderate/aggressive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37760" y="1911095"/>
            <a:ext cx="2606040" cy="18288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>
            <a:normAutofit/>
          </a:bodyPr>
          <a:lstStyle/>
          <a:p>
            <a:pPr algn="l">
              <a:spcAft>
                <a:spcPts val="200"/>
              </a:spcAft>
            </a:pPr>
            <a:r>
              <a:rPr sz="760" b="0">
                <a:solidFill>
                  <a:srgbClr val="141926"/>
                </a:solidFill>
                <a:latin typeface="Noto Sans CJK KR"/>
              </a:rPr>
              <a:t>standardized class centroid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8" y="1243584"/>
            <a:ext cx="3456432" cy="102412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0" y="1417320"/>
            <a:ext cx="310896" cy="310896"/>
          </a:xfrm>
          <a:prstGeom prst="roundRect">
            <a:avLst/>
          </a:prstGeom>
          <a:solidFill>
            <a:srgbClr val="FFE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11896" y="1499616"/>
            <a:ext cx="146304" cy="146304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59368" y="1371600"/>
            <a:ext cx="2697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41926"/>
                </a:solidFill>
                <a:latin typeface="Noto Sans CJK KR"/>
              </a:rPr>
              <a:t>Vehicle Maintenance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59368" y="1636776"/>
            <a:ext cx="96012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F97316"/>
                </a:solidFill>
                <a:latin typeface="Noto Sans CJK KR"/>
              </a:rPr>
              <a:t>1,970 rows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19488" y="1636776"/>
            <a:ext cx="16916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606E80"/>
                </a:solidFill>
                <a:latin typeface="Noto Sans CJK KR"/>
              </a:rPr>
              <a:t>normal/issue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59368" y="1911095"/>
            <a:ext cx="2606040" cy="18288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>
            <a:normAutofit/>
          </a:bodyPr>
          <a:lstStyle/>
          <a:p>
            <a:pPr algn="l">
              <a:spcAft>
                <a:spcPts val="200"/>
              </a:spcAft>
            </a:pPr>
            <a:r>
              <a:rPr sz="760" b="0">
                <a:solidFill>
                  <a:srgbClr val="141926"/>
                </a:solidFill>
                <a:latin typeface="Noto Sans CJK KR"/>
              </a:rPr>
              <a:t>robust z-score anomaly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" y="2788920"/>
            <a:ext cx="3456432" cy="102412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86384" y="2962656"/>
            <a:ext cx="310896" cy="310896"/>
          </a:xfrm>
          <a:prstGeom prst="round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68680" y="3044952"/>
            <a:ext cx="146304" cy="146304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16152" y="2916936"/>
            <a:ext cx="2697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41926"/>
                </a:solidFill>
                <a:latin typeface="Noto Sans CJK KR"/>
              </a:rPr>
              <a:t>KIT Automotive OBD-II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16152" y="3182112"/>
            <a:ext cx="96012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2563EB"/>
                </a:solidFill>
                <a:latin typeface="Noto Sans CJK KR"/>
              </a:rPr>
              <a:t>81 trip CSV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76272" y="3182112"/>
            <a:ext cx="16916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606E80"/>
                </a:solidFill>
                <a:latin typeface="Noto Sans CJK KR"/>
              </a:rPr>
              <a:t>normal/free_flow/traffic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16152" y="3456432"/>
            <a:ext cx="2606040" cy="18288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>
            <a:normAutofit/>
          </a:bodyPr>
          <a:lstStyle/>
          <a:p>
            <a:pPr algn="l">
              <a:spcAft>
                <a:spcPts val="200"/>
              </a:spcAft>
            </a:pPr>
            <a:r>
              <a:rPr sz="760" b="0">
                <a:solidFill>
                  <a:srgbClr val="141926"/>
                </a:solidFill>
                <a:latin typeface="Noto Sans CJK KR"/>
              </a:rPr>
              <a:t>trip-level class centroid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43400" y="2788920"/>
            <a:ext cx="3456432" cy="102412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07992" y="2962656"/>
            <a:ext cx="310896" cy="310896"/>
          </a:xfrm>
          <a:prstGeom prst="roundRect">
            <a:avLst/>
          </a:prstGeom>
          <a:solidFill>
            <a:srgbClr val="F2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90288" y="3044952"/>
            <a:ext cx="146304" cy="146304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937760" y="2916936"/>
            <a:ext cx="2697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41926"/>
                </a:solidFill>
                <a:latin typeface="Noto Sans CJK KR"/>
              </a:rPr>
              <a:t>AI4I 2020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37760" y="3182112"/>
            <a:ext cx="96012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7C3AED"/>
                </a:solidFill>
                <a:latin typeface="Noto Sans CJK KR"/>
              </a:rPr>
              <a:t>10,000 rows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97880" y="3182112"/>
            <a:ext cx="16916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606E80"/>
                </a:solidFill>
                <a:latin typeface="Noto Sans CJK KR"/>
              </a:rPr>
              <a:t>normal/failure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0" y="3456432"/>
            <a:ext cx="2606040" cy="18288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>
            <a:normAutofit/>
          </a:bodyPr>
          <a:lstStyle/>
          <a:p>
            <a:pPr algn="l">
              <a:spcAft>
                <a:spcPts val="200"/>
              </a:spcAft>
            </a:pPr>
            <a:r>
              <a:rPr sz="760" b="0">
                <a:solidFill>
                  <a:srgbClr val="141926"/>
                </a:solidFill>
                <a:latin typeface="Noto Sans CJK KR"/>
              </a:rPr>
              <a:t>predictive maintenance benchmark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65008" y="2788920"/>
            <a:ext cx="3456432" cy="102412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229600" y="2962656"/>
            <a:ext cx="310896" cy="310896"/>
          </a:xfrm>
          <a:prstGeom prst="roundRect">
            <a:avLst/>
          </a:prstGeom>
          <a:solidFill>
            <a:srgbClr val="FFE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311896" y="3044952"/>
            <a:ext cx="146304" cy="146304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659368" y="2916936"/>
            <a:ext cx="2697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41926"/>
                </a:solidFill>
                <a:latin typeface="Noto Sans CJK KR"/>
              </a:rPr>
              <a:t>APS Failure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59368" y="3182112"/>
            <a:ext cx="96012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EC4899"/>
                </a:solidFill>
                <a:latin typeface="Noto Sans CJK KR"/>
              </a:rPr>
              <a:t>76,000 rows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619488" y="3182112"/>
            <a:ext cx="16916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606E80"/>
                </a:solidFill>
                <a:latin typeface="Noto Sans CJK KR"/>
              </a:rPr>
              <a:t>download verified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659368" y="3456432"/>
            <a:ext cx="2606040" cy="182880"/>
          </a:xfrm>
          <a:prstGeom prst="round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>
            <a:normAutofit/>
          </a:bodyPr>
          <a:lstStyle/>
          <a:p>
            <a:pPr algn="l">
              <a:spcAft>
                <a:spcPts val="200"/>
              </a:spcAft>
            </a:pPr>
            <a:r>
              <a:rPr sz="760" b="0">
                <a:solidFill>
                  <a:srgbClr val="141926"/>
                </a:solidFill>
                <a:latin typeface="Noto Sans CJK KR"/>
              </a:rPr>
              <a:t>excluded from final model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13232" y="5047488"/>
            <a:ext cx="10716768" cy="768096"/>
          </a:xfrm>
          <a:prstGeom prst="roundRect">
            <a:avLst/>
          </a:prstGeom>
          <a:solidFill>
            <a:srgbClr val="FFF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87552" y="5266944"/>
            <a:ext cx="100584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41926"/>
                </a:solidFill>
                <a:latin typeface="Noto Sans CJK KR"/>
              </a:rPr>
              <a:t>APS는 다운로드와 무결성은 확인했지만 feature가 익명화되어 차량 상태 설명력이 낮아 최종 모델에서는 제외했습니다.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503152" y="502920"/>
            <a:ext cx="310896" cy="310896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137392" y="502920"/>
            <a:ext cx="201168" cy="201168"/>
          </a:xfrm>
          <a:prstGeom prst="roundRect">
            <a:avLst/>
          </a:prstGeom>
          <a:solidFill>
            <a:srgbClr val="F5B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310896"/>
            <a:ext cx="38404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F97316"/>
                </a:solidFill>
                <a:latin typeface="Noto Sans CJK KR"/>
              </a:rPr>
              <a:t>WHAT HAPPENS BEFORE TRAINING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66928"/>
            <a:ext cx="8412480" cy="4937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1926"/>
                </a:solidFill>
                <a:latin typeface="Noto Sans CJK KR"/>
              </a:rPr>
              <a:t>전처리와 알고리즘 활용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225296"/>
            <a:ext cx="5212080" cy="457200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591056"/>
            <a:ext cx="438912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97316"/>
                </a:solidFill>
                <a:latin typeface="Noto Sans CJK KR"/>
              </a:rPr>
              <a:t>학습 전 데이터 처리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2121408"/>
            <a:ext cx="4343400" cy="187451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980" b="0">
                <a:solidFill>
                  <a:srgbClr val="141926"/>
                </a:solidFill>
                <a:latin typeface="Noto Sans CJK KR"/>
              </a:rPr>
              <a:t>• 원천 CSV/ZIP 로드 후 표준 feature명으로 컬럼 매핑</a:t>
            </a:r>
          </a:p>
          <a:p>
            <a:pPr algn="l">
              <a:spcAft>
                <a:spcPts val="200"/>
              </a:spcAft>
            </a:pPr>
            <a:r>
              <a:rPr sz="980" b="0">
                <a:solidFill>
                  <a:srgbClr val="141926"/>
                </a:solidFill>
                <a:latin typeface="Noto Sans CJK KR"/>
              </a:rPr>
              <a:t>• 수치형 변환, 필수 feature와 라벨 기준 결측 행 제거</a:t>
            </a:r>
          </a:p>
          <a:p>
            <a:pPr algn="l">
              <a:spcAft>
                <a:spcPts val="200"/>
              </a:spcAft>
            </a:pPr>
            <a:r>
              <a:rPr sz="980" b="0">
                <a:solidFill>
                  <a:srgbClr val="141926"/>
                </a:solidFill>
                <a:latin typeface="Noto Sans CJK KR"/>
              </a:rPr>
              <a:t>• OBD Label 0-&gt;aggressive, Label 1-&gt;moderate</a:t>
            </a:r>
          </a:p>
          <a:p>
            <a:pPr algn="l">
              <a:spcAft>
                <a:spcPts val="200"/>
              </a:spcAft>
            </a:pPr>
            <a:r>
              <a:rPr sz="980" b="0">
                <a:solidFill>
                  <a:srgbClr val="141926"/>
                </a:solidFill>
                <a:latin typeface="Noto Sans CJK KR"/>
              </a:rPr>
              <a:t>• 정비 데이터 failure flag를 issue_label로 통합</a:t>
            </a:r>
          </a:p>
          <a:p>
            <a:pPr algn="l">
              <a:spcAft>
                <a:spcPts val="200"/>
              </a:spcAft>
            </a:pPr>
            <a:r>
              <a:rPr sz="980" b="0">
                <a:solidFill>
                  <a:srgbClr val="141926"/>
                </a:solidFill>
                <a:latin typeface="Noto Sans CJK KR"/>
              </a:rPr>
              <a:t>• train/test 75/25 stratified split, seed=42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225296"/>
            <a:ext cx="5212080" cy="457200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2" y="1591056"/>
            <a:ext cx="438912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2563EB"/>
                </a:solidFill>
                <a:latin typeface="Noto Sans CJK KR"/>
              </a:rPr>
              <a:t>머신러닝 활용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19672" y="2121408"/>
            <a:ext cx="1371600" cy="274320"/>
          </a:xfrm>
          <a:prstGeom prst="roundRect">
            <a:avLst/>
          </a:prstGeom>
          <a:solidFill>
            <a:srgbClr val="E2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>
            <a:normAutofit/>
          </a:bodyPr>
          <a:lstStyle/>
          <a:p>
            <a:pPr algn="ctr">
              <a:spcAft>
                <a:spcPts val="200"/>
              </a:spcAft>
            </a:pPr>
            <a:r>
              <a:rPr sz="980" b="1">
                <a:solidFill>
                  <a:srgbClr val="08BCDA"/>
                </a:solidFill>
                <a:latin typeface="Noto Sans CJK KR"/>
              </a:rPr>
              <a:t>k-NN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3" y="2103120"/>
            <a:ext cx="2761488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40" b="0">
                <a:solidFill>
                  <a:srgbClr val="141926"/>
                </a:solidFill>
                <a:latin typeface="Noto Sans CJK KR"/>
              </a:rPr>
              <a:t>Mendeley 센서를 표준화하고 가까운 학습 샘플 다수결로 주행 습관 분류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9672" y="3200400"/>
            <a:ext cx="1371600" cy="274320"/>
          </a:xfrm>
          <a:prstGeom prst="round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>
            <a:normAutofit/>
          </a:bodyPr>
          <a:lstStyle/>
          <a:p>
            <a:pPr algn="ctr">
              <a:spcAft>
                <a:spcPts val="200"/>
              </a:spcAft>
            </a:pPr>
            <a:r>
              <a:rPr sz="980" b="1">
                <a:solidFill>
                  <a:srgbClr val="2563EB"/>
                </a:solidFill>
                <a:latin typeface="Noto Sans CJK KR"/>
              </a:rPr>
              <a:t>Class centroid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1583" y="3182112"/>
            <a:ext cx="2761488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40" b="0">
                <a:solidFill>
                  <a:srgbClr val="141926"/>
                </a:solidFill>
                <a:latin typeface="Noto Sans CJK KR"/>
              </a:rPr>
              <a:t>클래스별 평균 벡터를 학습하고 새 데이터는 가장 가까운 중심으로 분류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19672" y="4279392"/>
            <a:ext cx="1371600" cy="274320"/>
          </a:xfrm>
          <a:prstGeom prst="roundRect">
            <a:avLst/>
          </a:prstGeom>
          <a:solidFill>
            <a:srgbClr val="FFE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>
            <a:normAutofit/>
          </a:bodyPr>
          <a:lstStyle/>
          <a:p>
            <a:pPr algn="ctr">
              <a:spcAft>
                <a:spcPts val="200"/>
              </a:spcAft>
            </a:pPr>
            <a:r>
              <a:rPr sz="980" b="1">
                <a:solidFill>
                  <a:srgbClr val="F97316"/>
                </a:solidFill>
                <a:latin typeface="Noto Sans CJK KR"/>
              </a:rPr>
              <a:t>Robust z-score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1583" y="4261104"/>
            <a:ext cx="2761488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40" b="0">
                <a:solidFill>
                  <a:srgbClr val="141926"/>
                </a:solidFill>
                <a:latin typeface="Noto Sans CJK KR"/>
              </a:rPr>
              <a:t>정상 정비 데이터의 median/MAD로 정상 범위 이탈을 issue로 판정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B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503152" y="502920"/>
            <a:ext cx="310896" cy="310896"/>
          </a:xfrm>
          <a:prstGeom prst="roundRect">
            <a:avLst/>
          </a:prstGeom>
          <a:solidFill>
            <a:srgbClr val="08B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137392" y="502920"/>
            <a:ext cx="201168" cy="201168"/>
          </a:xfrm>
          <a:prstGeom prst="roundRect">
            <a:avLst/>
          </a:prstGeom>
          <a:solidFill>
            <a:srgbClr val="F5B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310896"/>
            <a:ext cx="38404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08BCDA"/>
                </a:solidFill>
                <a:latin typeface="Noto Sans CJK KR"/>
              </a:rPr>
              <a:t>RESULT 01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66928"/>
            <a:ext cx="8412480" cy="4937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1926"/>
                </a:solidFill>
                <a:latin typeface="Noto Sans CJK KR"/>
              </a:rPr>
              <a:t>Mendeley 스마트폰 센서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2423160" cy="512064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572768"/>
            <a:ext cx="18288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8BCDA"/>
                </a:solidFill>
                <a:latin typeface="Noto Sans CJK KR"/>
              </a:rPr>
              <a:t>핵심 해석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2011680"/>
            <a:ext cx="2359152" cy="676656"/>
          </a:xfrm>
          <a:prstGeom prst="roundRect">
            <a:avLst/>
          </a:prstGeom>
          <a:solidFill>
            <a:srgbClr val="E2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05840" y="2103120"/>
            <a:ext cx="914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8BCDA"/>
                </a:solidFill>
                <a:latin typeface="Noto Sans CJK KR"/>
              </a:rPr>
              <a:t>0.826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395728"/>
            <a:ext cx="1938528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60" b="1">
                <a:solidFill>
                  <a:srgbClr val="606E80"/>
                </a:solidFill>
                <a:latin typeface="Noto Sans CJK KR"/>
              </a:rPr>
              <a:t>Accuracy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2798064"/>
            <a:ext cx="2359152" cy="676656"/>
          </a:xfrm>
          <a:prstGeom prst="roundRect">
            <a:avLst/>
          </a:prstGeom>
          <a:solidFill>
            <a:srgbClr val="E6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5840" y="2889504"/>
            <a:ext cx="914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0B981"/>
                </a:solidFill>
                <a:latin typeface="Noto Sans CJK KR"/>
              </a:rPr>
              <a:t>0.818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3182112"/>
            <a:ext cx="1938528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60" b="1">
                <a:solidFill>
                  <a:srgbClr val="606E80"/>
                </a:solidFill>
                <a:latin typeface="Noto Sans CJK KR"/>
              </a:rPr>
              <a:t>Macro F1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3584448"/>
            <a:ext cx="2359152" cy="676656"/>
          </a:xfrm>
          <a:prstGeom prst="round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" y="3675887"/>
            <a:ext cx="914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563EB"/>
                </a:solidFill>
                <a:latin typeface="Noto Sans CJK KR"/>
              </a:rPr>
              <a:t>10687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3968496"/>
            <a:ext cx="1938528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60" b="1">
                <a:solidFill>
                  <a:srgbClr val="606E80"/>
                </a:solidFill>
                <a:latin typeface="Noto Sans CJK KR"/>
              </a:rPr>
              <a:t>Train rows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4480560"/>
            <a:ext cx="1901952" cy="27432"/>
          </a:xfrm>
          <a:prstGeom prst="rect">
            <a:avLst/>
          </a:prstGeom>
          <a:solidFill>
            <a:srgbClr val="E6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4718304"/>
            <a:ext cx="1965960" cy="106070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69" b="0">
                <a:solidFill>
                  <a:srgbClr val="141926"/>
                </a:solidFill>
                <a:latin typeface="Noto Sans CJK KR"/>
              </a:rPr>
              <a:t>• 가속도/자이로 기반 분류</a:t>
            </a:r>
          </a:p>
          <a:p>
            <a:pPr algn="l">
              <a:spcAft>
                <a:spcPts val="200"/>
              </a:spcAft>
            </a:pPr>
            <a:r>
              <a:rPr sz="869" b="0">
                <a:solidFill>
                  <a:srgbClr val="141926"/>
                </a:solidFill>
                <a:latin typeface="Noto Sans CJK KR"/>
              </a:rPr>
              <a:t>• standardized k-NN 적용</a:t>
            </a:r>
          </a:p>
          <a:p>
            <a:pPr algn="l">
              <a:spcAft>
                <a:spcPts val="200"/>
              </a:spcAft>
            </a:pPr>
            <a:r>
              <a:rPr sz="869" b="0">
                <a:solidFill>
                  <a:srgbClr val="141926"/>
                </a:solidFill>
                <a:latin typeface="Noto Sans CJK KR"/>
              </a:rPr>
              <a:t>• 센서 기반 기준선 확보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64992" y="1261872"/>
            <a:ext cx="3675887" cy="257860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64992" y="1261872"/>
            <a:ext cx="3675887" cy="73152"/>
          </a:xfrm>
          <a:prstGeom prst="rect">
            <a:avLst/>
          </a:prstGeom>
          <a:solidFill>
            <a:srgbClr val="08B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93008" y="1380743"/>
            <a:ext cx="3419855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Confusion Matrix</a:t>
            </a:r>
          </a:p>
        </p:txBody>
      </p:sp>
      <p:pic>
        <p:nvPicPr>
          <p:cNvPr id="24" name="Picture 23" descr="mendeley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7696" y="1627631"/>
            <a:ext cx="2570480" cy="210312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7360920" y="1261872"/>
            <a:ext cx="3675887" cy="257860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1261872"/>
            <a:ext cx="3675887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88936" y="1380743"/>
            <a:ext cx="3419855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Feature Importance</a:t>
            </a:r>
          </a:p>
        </p:txBody>
      </p:sp>
      <p:pic>
        <p:nvPicPr>
          <p:cNvPr id="28" name="Picture 27" descr="mendeley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339" y="1627631"/>
            <a:ext cx="3067050" cy="210312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364992" y="4096512"/>
            <a:ext cx="2834640" cy="19933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64992" y="4096512"/>
            <a:ext cx="283464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93008" y="4215384"/>
            <a:ext cx="2578608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F1 Scores</a:t>
            </a:r>
          </a:p>
        </p:txBody>
      </p:sp>
      <p:pic>
        <p:nvPicPr>
          <p:cNvPr id="32" name="Picture 31" descr="mendeley_f1_sco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8446" y="4462272"/>
            <a:ext cx="1987731" cy="1517904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510528" y="4096512"/>
            <a:ext cx="4526280" cy="19933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10528" y="4096512"/>
            <a:ext cx="4526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638544" y="4215384"/>
            <a:ext cx="4270248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Sensor Distribution</a:t>
            </a:r>
          </a:p>
        </p:txBody>
      </p:sp>
      <p:pic>
        <p:nvPicPr>
          <p:cNvPr id="36" name="Picture 35" descr="mendeley_sensor_distribu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6639" y="4462272"/>
            <a:ext cx="3614057" cy="15179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503152" y="502920"/>
            <a:ext cx="310896" cy="310896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137392" y="502920"/>
            <a:ext cx="201168" cy="201168"/>
          </a:xfrm>
          <a:prstGeom prst="roundRect">
            <a:avLst/>
          </a:prstGeom>
          <a:solidFill>
            <a:srgbClr val="F5B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310896"/>
            <a:ext cx="38404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10B981"/>
                </a:solidFill>
                <a:latin typeface="Noto Sans CJK KR"/>
              </a:rPr>
              <a:t>RESULT 02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66928"/>
            <a:ext cx="8412480" cy="4937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1926"/>
                </a:solidFill>
                <a:latin typeface="Noto Sans CJK KR"/>
              </a:rPr>
              <a:t>OBD-II/CAN 운전 습관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2423160" cy="512064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572768"/>
            <a:ext cx="18288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0B981"/>
                </a:solidFill>
                <a:latin typeface="Noto Sans CJK KR"/>
              </a:rPr>
              <a:t>핵심 해석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2011680"/>
            <a:ext cx="2359152" cy="676656"/>
          </a:xfrm>
          <a:prstGeom prst="roundRect">
            <a:avLst/>
          </a:prstGeom>
          <a:solidFill>
            <a:srgbClr val="E2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05840" y="2103120"/>
            <a:ext cx="914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8BCDA"/>
                </a:solidFill>
                <a:latin typeface="Noto Sans CJK KR"/>
              </a:rPr>
              <a:t>0.976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395728"/>
            <a:ext cx="1938528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60" b="1">
                <a:solidFill>
                  <a:srgbClr val="606E80"/>
                </a:solidFill>
                <a:latin typeface="Noto Sans CJK KR"/>
              </a:rPr>
              <a:t>Accuracy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2798064"/>
            <a:ext cx="2359152" cy="676656"/>
          </a:xfrm>
          <a:prstGeom prst="roundRect">
            <a:avLst/>
          </a:prstGeom>
          <a:solidFill>
            <a:srgbClr val="E6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5840" y="2889504"/>
            <a:ext cx="914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0B981"/>
                </a:solidFill>
                <a:latin typeface="Noto Sans CJK KR"/>
              </a:rPr>
              <a:t>0.965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3182112"/>
            <a:ext cx="1938528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60" b="1">
                <a:solidFill>
                  <a:srgbClr val="606E80"/>
                </a:solidFill>
                <a:latin typeface="Noto Sans CJK KR"/>
              </a:rPr>
              <a:t>Macro F1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3584448"/>
            <a:ext cx="2359152" cy="676656"/>
          </a:xfrm>
          <a:prstGeom prst="round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" y="3675887"/>
            <a:ext cx="914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563EB"/>
                </a:solidFill>
                <a:latin typeface="Noto Sans CJK KR"/>
              </a:rPr>
              <a:t>416251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3968496"/>
            <a:ext cx="1938528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60" b="1">
                <a:solidFill>
                  <a:srgbClr val="606E80"/>
                </a:solidFill>
                <a:latin typeface="Noto Sans CJK KR"/>
              </a:rPr>
              <a:t>Train rows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4480560"/>
            <a:ext cx="1901952" cy="27432"/>
          </a:xfrm>
          <a:prstGeom prst="rect">
            <a:avLst/>
          </a:prstGeom>
          <a:solidFill>
            <a:srgbClr val="E6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4718304"/>
            <a:ext cx="1965960" cy="106070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69" b="0">
                <a:solidFill>
                  <a:srgbClr val="141926"/>
                </a:solidFill>
                <a:latin typeface="Noto Sans CJK KR"/>
              </a:rPr>
              <a:t>• 차량 내부 신호 사용</a:t>
            </a:r>
          </a:p>
          <a:p>
            <a:pPr algn="l">
              <a:spcAft>
                <a:spcPts val="200"/>
              </a:spcAft>
            </a:pPr>
            <a:r>
              <a:rPr sz="869" b="0">
                <a:solidFill>
                  <a:srgbClr val="141926"/>
                </a:solidFill>
                <a:latin typeface="Noto Sans CJK KR"/>
              </a:rPr>
              <a:t>• class centroid 분류</a:t>
            </a:r>
          </a:p>
          <a:p>
            <a:pPr algn="l">
              <a:spcAft>
                <a:spcPts val="200"/>
              </a:spcAft>
            </a:pPr>
            <a:r>
              <a:rPr sz="869" b="0">
                <a:solidFill>
                  <a:srgbClr val="141926"/>
                </a:solidFill>
                <a:latin typeface="Noto Sans CJK KR"/>
              </a:rPr>
              <a:t>• 가장 안정적인 결과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64992" y="1261872"/>
            <a:ext cx="3675887" cy="257860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64992" y="1261872"/>
            <a:ext cx="3675887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93008" y="1380743"/>
            <a:ext cx="3419855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Confusion Matrix</a:t>
            </a:r>
          </a:p>
        </p:txBody>
      </p:sp>
      <p:pic>
        <p:nvPicPr>
          <p:cNvPr id="24" name="Picture 23" descr="obd_can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7696" y="1627631"/>
            <a:ext cx="2570480" cy="210312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7360920" y="1261872"/>
            <a:ext cx="3675887" cy="257860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1261872"/>
            <a:ext cx="3675887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88936" y="1380743"/>
            <a:ext cx="3419855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Feature Importance</a:t>
            </a:r>
          </a:p>
        </p:txBody>
      </p:sp>
      <p:pic>
        <p:nvPicPr>
          <p:cNvPr id="28" name="Picture 27" descr="obd_can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339" y="1627631"/>
            <a:ext cx="3067050" cy="210312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364992" y="4096512"/>
            <a:ext cx="2834640" cy="19933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64992" y="4096512"/>
            <a:ext cx="283464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93008" y="4215384"/>
            <a:ext cx="2578608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F1 Scores</a:t>
            </a:r>
          </a:p>
        </p:txBody>
      </p:sp>
      <p:pic>
        <p:nvPicPr>
          <p:cNvPr id="32" name="Picture 31" descr="obd_can_f1_sco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8446" y="4462272"/>
            <a:ext cx="1987731" cy="1517904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510528" y="4096512"/>
            <a:ext cx="4526280" cy="19933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10528" y="4096512"/>
            <a:ext cx="4526280" cy="73152"/>
          </a:xfrm>
          <a:prstGeom prst="rect">
            <a:avLst/>
          </a:prstGeom>
          <a:solidFill>
            <a:srgbClr val="F5B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638544" y="4215384"/>
            <a:ext cx="4270248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Feature Distribution</a:t>
            </a:r>
          </a:p>
        </p:txBody>
      </p:sp>
      <p:pic>
        <p:nvPicPr>
          <p:cNvPr id="36" name="Picture 35" descr="obd_can_feature_distribu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0498" y="4462272"/>
            <a:ext cx="3686338" cy="151790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503152" y="502920"/>
            <a:ext cx="310896" cy="310896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137392" y="502920"/>
            <a:ext cx="201168" cy="201168"/>
          </a:xfrm>
          <a:prstGeom prst="roundRect">
            <a:avLst/>
          </a:prstGeom>
          <a:solidFill>
            <a:srgbClr val="F5B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310896"/>
            <a:ext cx="38404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F97316"/>
                </a:solidFill>
                <a:latin typeface="Noto Sans CJK KR"/>
              </a:rPr>
              <a:t>RESULT 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66928"/>
            <a:ext cx="8412480" cy="4937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1926"/>
                </a:solidFill>
                <a:latin typeface="Noto Sans CJK KR"/>
              </a:rPr>
              <a:t>Vehicle Maintenance 이상 탐지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2423160" cy="512064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572768"/>
            <a:ext cx="18288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97316"/>
                </a:solidFill>
                <a:latin typeface="Noto Sans CJK KR"/>
              </a:rPr>
              <a:t>핵심 해석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2011680"/>
            <a:ext cx="2359152" cy="676656"/>
          </a:xfrm>
          <a:prstGeom prst="roundRect">
            <a:avLst/>
          </a:prstGeom>
          <a:solidFill>
            <a:srgbClr val="E2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05840" y="2103120"/>
            <a:ext cx="914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8BCDA"/>
                </a:solidFill>
                <a:latin typeface="Noto Sans CJK KR"/>
              </a:rPr>
              <a:t>0.978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395728"/>
            <a:ext cx="1938528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60" b="1">
                <a:solidFill>
                  <a:srgbClr val="606E80"/>
                </a:solidFill>
                <a:latin typeface="Noto Sans CJK KR"/>
              </a:rPr>
              <a:t>Accuracy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2798064"/>
            <a:ext cx="2359152" cy="676656"/>
          </a:xfrm>
          <a:prstGeom prst="roundRect">
            <a:avLst/>
          </a:prstGeom>
          <a:solidFill>
            <a:srgbClr val="FFE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5840" y="2889504"/>
            <a:ext cx="914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97316"/>
                </a:solidFill>
                <a:latin typeface="Noto Sans CJK KR"/>
              </a:rPr>
              <a:t>0.791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3182112"/>
            <a:ext cx="1938528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60" b="1">
                <a:solidFill>
                  <a:srgbClr val="606E80"/>
                </a:solidFill>
                <a:latin typeface="Noto Sans CJK KR"/>
              </a:rPr>
              <a:t>Macro F1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3584448"/>
            <a:ext cx="2359152" cy="676656"/>
          </a:xfrm>
          <a:prstGeom prst="round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" y="3675887"/>
            <a:ext cx="914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563EB"/>
                </a:solidFill>
                <a:latin typeface="Noto Sans CJK KR"/>
              </a:rPr>
              <a:t>0.123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3968496"/>
            <a:ext cx="1938528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60" b="1">
                <a:solidFill>
                  <a:srgbClr val="606E80"/>
                </a:solidFill>
                <a:latin typeface="Noto Sans CJK KR"/>
              </a:rPr>
              <a:t>Threshold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4480560"/>
            <a:ext cx="1901952" cy="27432"/>
          </a:xfrm>
          <a:prstGeom prst="rect">
            <a:avLst/>
          </a:prstGeom>
          <a:solidFill>
            <a:srgbClr val="E6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4718304"/>
            <a:ext cx="1965960" cy="106070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69" b="0">
                <a:solidFill>
                  <a:srgbClr val="141926"/>
                </a:solidFill>
                <a:latin typeface="Noto Sans CJK KR"/>
              </a:rPr>
              <a:t>• 정상 telemetry 기준 학습</a:t>
            </a:r>
          </a:p>
          <a:p>
            <a:pPr algn="l">
              <a:spcAft>
                <a:spcPts val="200"/>
              </a:spcAft>
            </a:pPr>
            <a:r>
              <a:rPr sz="869" b="0">
                <a:solidFill>
                  <a:srgbClr val="141926"/>
                </a:solidFill>
                <a:latin typeface="Noto Sans CJK KR"/>
              </a:rPr>
              <a:t>• 정상 범위 이탈을 issue로 판정</a:t>
            </a:r>
          </a:p>
          <a:p>
            <a:pPr algn="l">
              <a:spcAft>
                <a:spcPts val="200"/>
              </a:spcAft>
            </a:pPr>
            <a:r>
              <a:rPr sz="869" b="0">
                <a:solidFill>
                  <a:srgbClr val="141926"/>
                </a:solidFill>
                <a:latin typeface="Noto Sans CJK KR"/>
              </a:rPr>
              <a:t>• issue recall 1.000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64992" y="1261872"/>
            <a:ext cx="3675887" cy="257860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64992" y="1261872"/>
            <a:ext cx="3675887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93008" y="1380743"/>
            <a:ext cx="3419855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Confusion Matrix</a:t>
            </a:r>
          </a:p>
        </p:txBody>
      </p:sp>
      <p:pic>
        <p:nvPicPr>
          <p:cNvPr id="24" name="Picture 23" descr="vehicle_maintenance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7696" y="1627631"/>
            <a:ext cx="2570480" cy="210312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7360920" y="1261872"/>
            <a:ext cx="3675887" cy="257860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1261872"/>
            <a:ext cx="3675887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88936" y="1380743"/>
            <a:ext cx="3419855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Feature Importance</a:t>
            </a:r>
          </a:p>
        </p:txBody>
      </p:sp>
      <p:pic>
        <p:nvPicPr>
          <p:cNvPr id="28" name="Picture 27" descr="vehicle_maintenance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339" y="1627631"/>
            <a:ext cx="3067050" cy="210312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364992" y="4096512"/>
            <a:ext cx="2834640" cy="19933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64992" y="4096512"/>
            <a:ext cx="28346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93008" y="4215384"/>
            <a:ext cx="2578608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F1 Scores</a:t>
            </a:r>
          </a:p>
        </p:txBody>
      </p:sp>
      <p:pic>
        <p:nvPicPr>
          <p:cNvPr id="32" name="Picture 31" descr="vehicle_maintenance_f1_sco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8446" y="4462272"/>
            <a:ext cx="1987731" cy="1517904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510528" y="4096512"/>
            <a:ext cx="4526280" cy="19933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10528" y="4096512"/>
            <a:ext cx="4526280" cy="73152"/>
          </a:xfrm>
          <a:prstGeom prst="rect">
            <a:avLst/>
          </a:prstGeom>
          <a:solidFill>
            <a:srgbClr val="F5B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638544" y="4215384"/>
            <a:ext cx="4270248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Feature Distribution</a:t>
            </a:r>
          </a:p>
        </p:txBody>
      </p:sp>
      <p:pic>
        <p:nvPicPr>
          <p:cNvPr id="36" name="Picture 35" descr="vehicle_maintenance_feature_distribu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0256" y="4630091"/>
            <a:ext cx="4306824" cy="11822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503152" y="502920"/>
            <a:ext cx="310896" cy="3108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137392" y="502920"/>
            <a:ext cx="201168" cy="201168"/>
          </a:xfrm>
          <a:prstGeom prst="roundRect">
            <a:avLst/>
          </a:prstGeom>
          <a:solidFill>
            <a:srgbClr val="F5B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310896"/>
            <a:ext cx="38404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2563EB"/>
                </a:solidFill>
                <a:latin typeface="Noto Sans CJK KR"/>
              </a:rPr>
              <a:t>RESULT 04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66928"/>
            <a:ext cx="8412480" cy="4937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1926"/>
                </a:solidFill>
                <a:latin typeface="Noto Sans CJK KR"/>
              </a:rPr>
              <a:t>KIT Automotive OBD-II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2423160" cy="512064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572768"/>
            <a:ext cx="18288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563EB"/>
                </a:solidFill>
                <a:latin typeface="Noto Sans CJK KR"/>
              </a:rPr>
              <a:t>핵심 해석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2011680"/>
            <a:ext cx="2359152" cy="676656"/>
          </a:xfrm>
          <a:prstGeom prst="roundRect">
            <a:avLst/>
          </a:prstGeom>
          <a:solidFill>
            <a:srgbClr val="E2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05840" y="2103120"/>
            <a:ext cx="914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8BCDA"/>
                </a:solidFill>
                <a:latin typeface="Noto Sans CJK KR"/>
              </a:rPr>
              <a:t>0.526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395728"/>
            <a:ext cx="1938528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60" b="1">
                <a:solidFill>
                  <a:srgbClr val="606E80"/>
                </a:solidFill>
                <a:latin typeface="Noto Sans CJK KR"/>
              </a:rPr>
              <a:t>Accuracy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2798064"/>
            <a:ext cx="2359152" cy="676656"/>
          </a:xfrm>
          <a:prstGeom prst="roundRect">
            <a:avLst/>
          </a:prstGeom>
          <a:solidFill>
            <a:srgbClr val="FFE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5840" y="2889504"/>
            <a:ext cx="914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EC4899"/>
                </a:solidFill>
                <a:latin typeface="Noto Sans CJK KR"/>
              </a:rPr>
              <a:t>0.420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3182112"/>
            <a:ext cx="1938528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60" b="1">
                <a:solidFill>
                  <a:srgbClr val="606E80"/>
                </a:solidFill>
                <a:latin typeface="Noto Sans CJK KR"/>
              </a:rPr>
              <a:t>Macro F1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3584448"/>
            <a:ext cx="2359152" cy="676656"/>
          </a:xfrm>
          <a:prstGeom prst="round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" y="3675887"/>
            <a:ext cx="914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563EB"/>
                </a:solidFill>
                <a:latin typeface="Noto Sans CJK KR"/>
              </a:rPr>
              <a:t>81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3968496"/>
            <a:ext cx="1938528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60" b="1">
                <a:solidFill>
                  <a:srgbClr val="606E80"/>
                </a:solidFill>
                <a:latin typeface="Noto Sans CJK KR"/>
              </a:rPr>
              <a:t>Trip files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4480560"/>
            <a:ext cx="1901952" cy="27432"/>
          </a:xfrm>
          <a:prstGeom prst="rect">
            <a:avLst/>
          </a:prstGeom>
          <a:solidFill>
            <a:srgbClr val="E6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4718304"/>
            <a:ext cx="1965960" cy="106070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69" b="0">
                <a:solidFill>
                  <a:srgbClr val="141926"/>
                </a:solidFill>
                <a:latin typeface="Noto Sans CJK KR"/>
              </a:rPr>
              <a:t>• OBD 로그를 trip 단위 집계</a:t>
            </a:r>
          </a:p>
          <a:p>
            <a:pPr algn="l">
              <a:spcAft>
                <a:spcPts val="200"/>
              </a:spcAft>
            </a:pPr>
            <a:r>
              <a:rPr sz="869" b="0">
                <a:solidFill>
                  <a:srgbClr val="141926"/>
                </a:solidFill>
                <a:latin typeface="Noto Sans CJK KR"/>
              </a:rPr>
              <a:t>• 도로 조건 3-class 분류</a:t>
            </a:r>
          </a:p>
          <a:p>
            <a:pPr algn="l">
              <a:spcAft>
                <a:spcPts val="200"/>
              </a:spcAft>
            </a:pPr>
            <a:r>
              <a:rPr sz="869" b="0">
                <a:solidFill>
                  <a:srgbClr val="141926"/>
                </a:solidFill>
                <a:latin typeface="Noto Sans CJK KR"/>
              </a:rPr>
              <a:t>• 추가 데이터 필요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64992" y="1261872"/>
            <a:ext cx="3675887" cy="257860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64992" y="1261872"/>
            <a:ext cx="3675887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93008" y="1380743"/>
            <a:ext cx="3419855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Confusion Matrix</a:t>
            </a:r>
          </a:p>
        </p:txBody>
      </p:sp>
      <p:pic>
        <p:nvPicPr>
          <p:cNvPr id="24" name="Picture 23" descr="automotive_obd_ii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7696" y="1627631"/>
            <a:ext cx="2570480" cy="210312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7360920" y="1261872"/>
            <a:ext cx="3675887" cy="257860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1261872"/>
            <a:ext cx="3675887" cy="73152"/>
          </a:xfrm>
          <a:prstGeom prst="rect">
            <a:avLst/>
          </a:prstGeom>
          <a:solidFill>
            <a:srgbClr val="08B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88936" y="1380743"/>
            <a:ext cx="3419855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Feature Importance</a:t>
            </a:r>
          </a:p>
        </p:txBody>
      </p:sp>
      <p:pic>
        <p:nvPicPr>
          <p:cNvPr id="28" name="Picture 27" descr="automotive_obd_ii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339" y="1627631"/>
            <a:ext cx="3067050" cy="210312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364992" y="4096512"/>
            <a:ext cx="2834640" cy="19933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64992" y="4096512"/>
            <a:ext cx="283464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93008" y="4215384"/>
            <a:ext cx="2578608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F1 Scores</a:t>
            </a:r>
          </a:p>
        </p:txBody>
      </p:sp>
      <p:pic>
        <p:nvPicPr>
          <p:cNvPr id="32" name="Picture 31" descr="automotive_obd_ii_f1_sco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8446" y="4462272"/>
            <a:ext cx="1987731" cy="1517904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510528" y="4096512"/>
            <a:ext cx="4526280" cy="19933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10528" y="4096512"/>
            <a:ext cx="4526280" cy="73152"/>
          </a:xfrm>
          <a:prstGeom prst="rect">
            <a:avLst/>
          </a:prstGeom>
          <a:solidFill>
            <a:srgbClr val="F5B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638544" y="4215384"/>
            <a:ext cx="4270248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Feature Distribution</a:t>
            </a:r>
          </a:p>
        </p:txBody>
      </p:sp>
      <p:pic>
        <p:nvPicPr>
          <p:cNvPr id="36" name="Picture 35" descr="automotive_obd_ii_feature_distribu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0498" y="4462272"/>
            <a:ext cx="3686338" cy="15179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503152" y="502920"/>
            <a:ext cx="310896" cy="310896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137392" y="502920"/>
            <a:ext cx="201168" cy="201168"/>
          </a:xfrm>
          <a:prstGeom prst="roundRect">
            <a:avLst/>
          </a:prstGeom>
          <a:solidFill>
            <a:srgbClr val="F5B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310896"/>
            <a:ext cx="38404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C3AED"/>
                </a:solidFill>
                <a:latin typeface="Noto Sans CJK KR"/>
              </a:rPr>
              <a:t>RESULT 05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66928"/>
            <a:ext cx="8412480" cy="4937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1926"/>
                </a:solidFill>
                <a:latin typeface="Noto Sans CJK KR"/>
              </a:rPr>
              <a:t>AI4I 예지정비 벤치마크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2423160" cy="512064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572768"/>
            <a:ext cx="18288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7C3AED"/>
                </a:solidFill>
                <a:latin typeface="Noto Sans CJK KR"/>
              </a:rPr>
              <a:t>핵심 해석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2011680"/>
            <a:ext cx="2359152" cy="676656"/>
          </a:xfrm>
          <a:prstGeom prst="roundRect">
            <a:avLst/>
          </a:prstGeom>
          <a:solidFill>
            <a:srgbClr val="E2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05840" y="2103120"/>
            <a:ext cx="914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8BCDA"/>
                </a:solidFill>
                <a:latin typeface="Noto Sans CJK KR"/>
              </a:rPr>
              <a:t>0.726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395728"/>
            <a:ext cx="1938528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60" b="1">
                <a:solidFill>
                  <a:srgbClr val="606E80"/>
                </a:solidFill>
                <a:latin typeface="Noto Sans CJK KR"/>
              </a:rPr>
              <a:t>Accuracy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2798064"/>
            <a:ext cx="2359152" cy="676656"/>
          </a:xfrm>
          <a:prstGeom prst="roundRect">
            <a:avLst/>
          </a:prstGeom>
          <a:solidFill>
            <a:srgbClr val="FFE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5840" y="2889504"/>
            <a:ext cx="914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97316"/>
                </a:solidFill>
                <a:latin typeface="Noto Sans CJK KR"/>
              </a:rPr>
              <a:t>0.496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3182112"/>
            <a:ext cx="1938528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60" b="1">
                <a:solidFill>
                  <a:srgbClr val="606E80"/>
                </a:solidFill>
                <a:latin typeface="Noto Sans CJK KR"/>
              </a:rPr>
              <a:t>Macro F1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3584448"/>
            <a:ext cx="2359152" cy="676656"/>
          </a:xfrm>
          <a:prstGeom prst="roundRect">
            <a:avLst/>
          </a:prstGeom>
          <a:solidFill>
            <a:srgbClr val="F2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" y="3675887"/>
            <a:ext cx="914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7C3AED"/>
                </a:solidFill>
                <a:latin typeface="Noto Sans CJK KR"/>
              </a:rPr>
              <a:t>7501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3968496"/>
            <a:ext cx="1938528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760" b="1">
                <a:solidFill>
                  <a:srgbClr val="606E80"/>
                </a:solidFill>
                <a:latin typeface="Noto Sans CJK KR"/>
              </a:rPr>
              <a:t>Train rows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4480560"/>
            <a:ext cx="1901952" cy="27432"/>
          </a:xfrm>
          <a:prstGeom prst="rect">
            <a:avLst/>
          </a:prstGeom>
          <a:solidFill>
            <a:srgbClr val="E6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4718304"/>
            <a:ext cx="1965960" cy="106070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69" b="0">
                <a:solidFill>
                  <a:srgbClr val="141926"/>
                </a:solidFill>
                <a:latin typeface="Noto Sans CJK KR"/>
              </a:rPr>
              <a:t>• 온도·토크·마모 feature</a:t>
            </a:r>
          </a:p>
          <a:p>
            <a:pPr algn="l">
              <a:spcAft>
                <a:spcPts val="200"/>
              </a:spcAft>
            </a:pPr>
            <a:r>
              <a:rPr sz="869" b="0">
                <a:solidFill>
                  <a:srgbClr val="141926"/>
                </a:solidFill>
                <a:latin typeface="Noto Sans CJK KR"/>
              </a:rPr>
              <a:t>• 예지정비 구조 검증</a:t>
            </a:r>
          </a:p>
          <a:p>
            <a:pPr algn="l">
              <a:spcAft>
                <a:spcPts val="200"/>
              </a:spcAft>
            </a:pPr>
            <a:r>
              <a:rPr sz="869" b="0">
                <a:solidFill>
                  <a:srgbClr val="141926"/>
                </a:solidFill>
                <a:latin typeface="Noto Sans CJK KR"/>
              </a:rPr>
              <a:t>• failure class 개선 필요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64992" y="1261872"/>
            <a:ext cx="3675887" cy="257860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64992" y="1261872"/>
            <a:ext cx="3675887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93008" y="1380743"/>
            <a:ext cx="3419855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Confusion Matrix</a:t>
            </a:r>
          </a:p>
        </p:txBody>
      </p:sp>
      <p:pic>
        <p:nvPicPr>
          <p:cNvPr id="24" name="Picture 23" descr="ai4i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7696" y="1627631"/>
            <a:ext cx="2570480" cy="210312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7360920" y="1261872"/>
            <a:ext cx="3675887" cy="257860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1261872"/>
            <a:ext cx="3675887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88936" y="1380743"/>
            <a:ext cx="3419855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Feature Importance</a:t>
            </a:r>
          </a:p>
        </p:txBody>
      </p:sp>
      <p:pic>
        <p:nvPicPr>
          <p:cNvPr id="28" name="Picture 27" descr="ai4i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339" y="1627631"/>
            <a:ext cx="3067050" cy="210312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364992" y="4096512"/>
            <a:ext cx="2834640" cy="19933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64992" y="4096512"/>
            <a:ext cx="283464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93008" y="4215384"/>
            <a:ext cx="2578608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F1 Scores</a:t>
            </a:r>
          </a:p>
        </p:txBody>
      </p:sp>
      <p:pic>
        <p:nvPicPr>
          <p:cNvPr id="32" name="Picture 31" descr="ai4i_f1_sco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8446" y="4462272"/>
            <a:ext cx="1987731" cy="1517904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510528" y="4096512"/>
            <a:ext cx="4526280" cy="199339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10528" y="4096512"/>
            <a:ext cx="4526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638544" y="4215384"/>
            <a:ext cx="4270248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606E80"/>
                </a:solidFill>
                <a:latin typeface="Noto Sans CJK KR"/>
              </a:rPr>
              <a:t>Feature Distribution</a:t>
            </a:r>
          </a:p>
        </p:txBody>
      </p:sp>
      <p:pic>
        <p:nvPicPr>
          <p:cNvPr id="36" name="Picture 35" descr="ai4i_feature_distribu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0256" y="4630091"/>
            <a:ext cx="4306824" cy="118226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503152" y="502920"/>
            <a:ext cx="310896" cy="310896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137392" y="502920"/>
            <a:ext cx="201168" cy="201168"/>
          </a:xfrm>
          <a:prstGeom prst="roundRect">
            <a:avLst/>
          </a:prstGeom>
          <a:solidFill>
            <a:srgbClr val="F5B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310896"/>
            <a:ext cx="384048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10B981"/>
                </a:solidFill>
                <a:latin typeface="Noto Sans CJK KR"/>
              </a:rPr>
              <a:t>SCORECARD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66928"/>
            <a:ext cx="8412480" cy="4937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1926"/>
                </a:solidFill>
                <a:latin typeface="Noto Sans CJK KR"/>
              </a:rPr>
              <a:t>최종 결론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243584"/>
            <a:ext cx="5084064" cy="4187952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7552" y="1581912"/>
            <a:ext cx="43891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926"/>
                </a:solidFill>
                <a:latin typeface="Noto Sans CJK KR"/>
              </a:rPr>
              <a:t>Macro F1 비교</a:t>
            </a:r>
          </a:p>
        </p:txBody>
      </p:sp>
      <p:sp>
        <p:nvSpPr>
          <p:cNvPr id="10" name="Rectangle 9"/>
          <p:cNvSpPr/>
          <p:nvPr/>
        </p:nvSpPr>
        <p:spPr>
          <a:xfrm>
            <a:off x="987552" y="2139696"/>
            <a:ext cx="16002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69" b="1">
                <a:solidFill>
                  <a:srgbClr val="141926"/>
                </a:solidFill>
                <a:latin typeface="Noto Sans CJK KR"/>
              </a:rPr>
              <a:t>OBD-II/CAN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97480" y="2194560"/>
            <a:ext cx="2121408" cy="164592"/>
          </a:xfrm>
          <a:prstGeom prst="roundRect">
            <a:avLst/>
          </a:prstGeom>
          <a:solidFill>
            <a:srgbClr val="E6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97480" y="2194560"/>
            <a:ext cx="2047156" cy="1645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37760" y="2130552"/>
            <a:ext cx="493776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10B981"/>
                </a:solidFill>
                <a:latin typeface="Noto Sans CJK KR"/>
              </a:rPr>
              <a:t>0.965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7552" y="2660903"/>
            <a:ext cx="16002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69" b="1">
                <a:solidFill>
                  <a:srgbClr val="141926"/>
                </a:solidFill>
                <a:latin typeface="Noto Sans CJK KR"/>
              </a:rPr>
              <a:t>Mendeley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97480" y="2715768"/>
            <a:ext cx="2121408" cy="164592"/>
          </a:xfrm>
          <a:prstGeom prst="roundRect">
            <a:avLst/>
          </a:prstGeom>
          <a:solidFill>
            <a:srgbClr val="E6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97480" y="2715768"/>
            <a:ext cx="1736060" cy="164592"/>
          </a:xfrm>
          <a:prstGeom prst="roundRect">
            <a:avLst/>
          </a:prstGeom>
          <a:solidFill>
            <a:srgbClr val="08BC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37760" y="2651760"/>
            <a:ext cx="493776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08BCDA"/>
                </a:solidFill>
                <a:latin typeface="Noto Sans CJK KR"/>
              </a:rPr>
              <a:t>0.818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7552" y="3182111"/>
            <a:ext cx="16002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69" b="1">
                <a:solidFill>
                  <a:srgbClr val="141926"/>
                </a:solidFill>
                <a:latin typeface="Noto Sans CJK KR"/>
              </a:rPr>
              <a:t>Vehicle Maintenance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97480" y="3236975"/>
            <a:ext cx="2121408" cy="164592"/>
          </a:xfrm>
          <a:prstGeom prst="roundRect">
            <a:avLst/>
          </a:prstGeom>
          <a:solidFill>
            <a:srgbClr val="E6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97480" y="3236975"/>
            <a:ext cx="1677051" cy="164592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37760" y="3172968"/>
            <a:ext cx="493776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F97316"/>
                </a:solidFill>
                <a:latin typeface="Noto Sans CJK KR"/>
              </a:rPr>
              <a:t>0.791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7552" y="3703320"/>
            <a:ext cx="16002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69" b="1">
                <a:solidFill>
                  <a:srgbClr val="141926"/>
                </a:solidFill>
                <a:latin typeface="Noto Sans CJK KR"/>
              </a:rPr>
              <a:t>AI4I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97480" y="3758183"/>
            <a:ext cx="2121408" cy="164592"/>
          </a:xfrm>
          <a:prstGeom prst="roundRect">
            <a:avLst/>
          </a:prstGeom>
          <a:solidFill>
            <a:srgbClr val="E6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697480" y="3758183"/>
            <a:ext cx="1052464" cy="164592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37760" y="3694175"/>
            <a:ext cx="493776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C3AED"/>
                </a:solidFill>
                <a:latin typeface="Noto Sans CJK KR"/>
              </a:rPr>
              <a:t>0.496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7552" y="4224528"/>
            <a:ext cx="16002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69" b="1">
                <a:solidFill>
                  <a:srgbClr val="141926"/>
                </a:solidFill>
                <a:latin typeface="Noto Sans CJK KR"/>
              </a:rPr>
              <a:t>KIT OBD-II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4279392"/>
            <a:ext cx="2121408" cy="164592"/>
          </a:xfrm>
          <a:prstGeom prst="roundRect">
            <a:avLst/>
          </a:prstGeom>
          <a:solidFill>
            <a:srgbClr val="E6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697480" y="4279392"/>
            <a:ext cx="890317" cy="16459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937760" y="4215383"/>
            <a:ext cx="493776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2563EB"/>
                </a:solidFill>
                <a:latin typeface="Noto Sans CJK KR"/>
              </a:rPr>
              <a:t>0.420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1243584"/>
            <a:ext cx="5230368" cy="1572768"/>
          </a:xfrm>
          <a:prstGeom prst="roundRect">
            <a:avLst/>
          </a:prstGeom>
          <a:solidFill>
            <a:srgbClr val="E6F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73952" y="1554480"/>
            <a:ext cx="438912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0B981"/>
                </a:solidFill>
                <a:latin typeface="Noto Sans CJK KR"/>
              </a:rPr>
              <a:t>핵심 성과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73952" y="1984248"/>
            <a:ext cx="425196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141926"/>
                </a:solidFill>
                <a:latin typeface="Noto Sans CJK KR"/>
              </a:rPr>
              <a:t>• 여러 데이터셋을 같은 평가 흐름으로 비교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141926"/>
                </a:solidFill>
                <a:latin typeface="Noto Sans CJK KR"/>
              </a:rPr>
              <a:t>• 분류와 이상 탐지를 함께 활용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141926"/>
                </a:solidFill>
                <a:latin typeface="Noto Sans CJK KR"/>
              </a:rPr>
              <a:t>• 그래프와 보고서 자동 생성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3127248"/>
            <a:ext cx="5230368" cy="1572768"/>
          </a:xfrm>
          <a:prstGeom prst="roundRect">
            <a:avLst/>
          </a:prstGeom>
          <a:solidFill>
            <a:srgbClr val="FFEE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73952" y="3438144"/>
            <a:ext cx="438912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97316"/>
                </a:solidFill>
                <a:latin typeface="Noto Sans CJK KR"/>
              </a:rPr>
              <a:t>다음 단계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73952" y="3867912"/>
            <a:ext cx="425196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141926"/>
                </a:solidFill>
                <a:latin typeface="Noto Sans CJK KR"/>
              </a:rPr>
              <a:t>• KIT OBD-II 추가 라벨 데이터 확보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141926"/>
                </a:solidFill>
                <a:latin typeface="Noto Sans CJK KR"/>
              </a:rPr>
              <a:t>• 실제 차량 고장/정비 라벨 확장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141926"/>
                </a:solidFill>
                <a:latin typeface="Noto Sans CJK KR"/>
              </a:rPr>
              <a:t>• 시계열 모델과 실시간 적용 구조로 개선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5806440"/>
            <a:ext cx="10698480" cy="502920"/>
          </a:xfrm>
          <a:prstGeom prst="round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87552" y="5943600"/>
            <a:ext cx="1001268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>
            <a:normAutofit/>
          </a:bodyPr>
          <a:lstStyle/>
          <a:p>
            <a:pPr algn="l">
              <a:spcAft>
                <a:spcPts val="200"/>
              </a:spcAft>
            </a:pPr>
            <a:r>
              <a:rPr sz="1019" b="1">
                <a:solidFill>
                  <a:srgbClr val="2563EB"/>
                </a:solidFill>
                <a:latin typeface="Noto Sans CJK KR"/>
              </a:rPr>
              <a:t>수업자료 연결: 데이터 전처리, 지도학습 분류, 이상 탐지, 성능 평가, 시각화를 실제 프로젝트 흐름으로 구현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