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12280" y="0"/>
            <a:ext cx="5376672" cy="68580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530352"/>
            <a:ext cx="1188720" cy="1188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83664" y="530352"/>
            <a:ext cx="1188720" cy="118872"/>
          </a:xfrm>
          <a:prstGeom prst="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530352"/>
            <a:ext cx="1188720" cy="1188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987552"/>
            <a:ext cx="2194560" cy="219456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Noto Sans CJK KR"/>
              </a:rPr>
              <a:t>AUTOMOTIVE AI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480560" cy="1225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3300" b="1">
                <a:solidFill>
                  <a:srgbClr val="141926"/>
                </a:solidFill>
                <a:latin typeface="Noto Sans CJK KR"/>
              </a:rPr>
              <a:t>AI 차량 점검
리포트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907792"/>
            <a:ext cx="42519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06E80"/>
                </a:solidFill>
                <a:latin typeface="Noto Sans CJK KR"/>
              </a:rPr>
              <a:t>차량 센서 데이터 학습 -&gt; 새 데이터 적용 -&gt; 결과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493008"/>
            <a:ext cx="2487168" cy="9509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141926"/>
                </a:solidFill>
                <a:latin typeface="Noto Sans CJK KR"/>
              </a:rPr>
              <a:t>• 전처리</a:t>
            </a:r>
          </a:p>
          <a:p>
            <a:pPr algn="l">
              <a:spcAft>
                <a:spcPts val="200"/>
              </a:spcAft>
            </a:pPr>
            <a:r>
              <a:rPr sz="1040" b="0">
                <a:solidFill>
                  <a:srgbClr val="141926"/>
                </a:solidFill>
                <a:latin typeface="Noto Sans CJK KR"/>
              </a:rPr>
              <a:t>• 머신러닝 알고리즘</a:t>
            </a:r>
          </a:p>
          <a:p>
            <a:pPr algn="l">
              <a:spcAft>
                <a:spcPts val="200"/>
              </a:spcAft>
            </a:pPr>
            <a:r>
              <a:rPr sz="1040" b="0">
                <a:solidFill>
                  <a:srgbClr val="141926"/>
                </a:solidFill>
                <a:latin typeface="Noto Sans CJK KR"/>
              </a:rPr>
              <a:t>• 성능 평가</a:t>
            </a:r>
          </a:p>
          <a:p>
            <a:pPr algn="l">
              <a:spcAft>
                <a:spcPts val="200"/>
              </a:spcAft>
            </a:pPr>
            <a:r>
              <a:rPr sz="1040" b="0">
                <a:solidFill>
                  <a:srgbClr val="141926"/>
                </a:solidFill>
                <a:latin typeface="Noto Sans CJK KR"/>
              </a:rPr>
              <a:t>• 시각적 결과물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138928"/>
            <a:ext cx="1280160" cy="329184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10B981"/>
                </a:solidFill>
                <a:latin typeface="Noto Sans CJK KR"/>
              </a:rPr>
              <a:t>0.965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5495544"/>
            <a:ext cx="128016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606E80"/>
                </a:solidFill>
                <a:latin typeface="Noto Sans CJK KR"/>
              </a:rPr>
              <a:t>OBD/CAN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1" y="5138928"/>
            <a:ext cx="1280160" cy="329184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08BCDA"/>
                </a:solidFill>
                <a:latin typeface="Noto Sans CJK KR"/>
              </a:rPr>
              <a:t>0.818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4831" y="5495544"/>
            <a:ext cx="128016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606E80"/>
                </a:solidFill>
                <a:latin typeface="Noto Sans CJK KR"/>
              </a:rPr>
              <a:t>Mendeley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138928"/>
            <a:ext cx="1280160" cy="329184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97316"/>
                </a:solidFill>
                <a:latin typeface="Noto Sans CJK KR"/>
              </a:rPr>
              <a:t>0.791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5495544"/>
            <a:ext cx="1280160" cy="1737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606E80"/>
                </a:solidFill>
                <a:latin typeface="Noto Sans CJK KR"/>
              </a:rPr>
              <a:t>정비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640080"/>
            <a:ext cx="5897880" cy="5440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08192" y="960120"/>
            <a:ext cx="2505456" cy="2148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960120"/>
            <a:ext cx="250545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1078992"/>
            <a:ext cx="2249424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예측 결과</a:t>
            </a:r>
          </a:p>
        </p:txBody>
      </p:sp>
      <p:pic>
        <p:nvPicPr>
          <p:cNvPr id="21" name="Picture 20" descr="obd_ca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16" y="1325880"/>
            <a:ext cx="2045208" cy="167335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887968" y="960120"/>
            <a:ext cx="2505456" cy="2148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960120"/>
            <a:ext cx="250545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984" y="1078992"/>
            <a:ext cx="2249424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판단 근거</a:t>
            </a:r>
          </a:p>
        </p:txBody>
      </p:sp>
      <p:pic>
        <p:nvPicPr>
          <p:cNvPr id="25" name="Picture 24" descr="mendeley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1378784"/>
            <a:ext cx="2286000" cy="156754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108192" y="3383280"/>
            <a:ext cx="5285232" cy="2011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3383280"/>
            <a:ext cx="528523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7" y="3502152"/>
            <a:ext cx="5029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전처리 패턴</a:t>
            </a:r>
          </a:p>
        </p:txBody>
      </p:sp>
      <p:pic>
        <p:nvPicPr>
          <p:cNvPr id="29" name="Picture 28" descr="vehicle_maintenance_featur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21833"/>
            <a:ext cx="5065776" cy="13906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Noto Sans CJK KR"/>
              </a:rPr>
              <a:t>DATA TO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프로젝트 핵심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44752"/>
            <a:ext cx="2468880" cy="17007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682496"/>
            <a:ext cx="493776" cy="320040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8BCDA"/>
                </a:solidFill>
                <a:latin typeface="Noto Sans CJK KR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1645920"/>
            <a:ext cx="13716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926"/>
                </a:solidFill>
                <a:latin typeface="Noto Sans CJK KR"/>
              </a:rPr>
              <a:t>Raw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2267712"/>
            <a:ext cx="1975104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606E80"/>
                </a:solidFill>
                <a:latin typeface="Noto Sans CJK KR"/>
              </a:rPr>
              <a:t>CSV/ZIP 센서·정비 데이터 수집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444752"/>
            <a:ext cx="2468880" cy="17007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682496"/>
            <a:ext cx="493776" cy="32004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Noto Sans CJK KR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45920"/>
            <a:ext cx="13716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926"/>
                </a:solidFill>
                <a:latin typeface="Noto Sans CJK KR"/>
              </a:rPr>
              <a:t>Preprocess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7016" y="2267712"/>
            <a:ext cx="1975104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606E80"/>
                </a:solidFill>
                <a:latin typeface="Noto Sans CJK KR"/>
              </a:rPr>
              <a:t>컬럼 표준화, 결측 제거, 라벨 매핑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1444752"/>
            <a:ext cx="2468880" cy="17007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3056" y="1682496"/>
            <a:ext cx="493776" cy="320040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5BE14"/>
                </a:solidFill>
                <a:latin typeface="Noto Sans CJK KR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1645920"/>
            <a:ext cx="13716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926"/>
                </a:solidFill>
                <a:latin typeface="Noto Sans CJK KR"/>
              </a:rPr>
              <a:t>Feature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2267712"/>
            <a:ext cx="1975104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606E80"/>
                </a:solidFill>
                <a:latin typeface="Noto Sans CJK KR"/>
              </a:rPr>
              <a:t>센서 magnitude, trip 통계, one-hot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1444752"/>
            <a:ext cx="2468880" cy="17007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33104" y="1682496"/>
            <a:ext cx="493776" cy="320040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Noto Sans CJK KR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4896" y="1645920"/>
            <a:ext cx="13716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926"/>
                </a:solidFill>
                <a:latin typeface="Noto Sans CJK KR"/>
              </a:rPr>
              <a:t>ML &amp;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7112" y="2267712"/>
            <a:ext cx="1975104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1">
                <a:solidFill>
                  <a:srgbClr val="606E80"/>
                </a:solidFill>
                <a:latin typeface="Noto Sans CJK KR"/>
              </a:rPr>
              <a:t>분류·이상 탐지 후 그래프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139696"/>
            <a:ext cx="237744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Noto Sans CJK K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2139696"/>
            <a:ext cx="237744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5BE14"/>
                </a:solidFill>
                <a:latin typeface="Noto Sans CJK K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2139696"/>
            <a:ext cx="237744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Noto Sans CJK K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86200"/>
            <a:ext cx="5138928" cy="1444752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0704" y="4160520"/>
            <a:ext cx="4572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Noto Sans CJK KR"/>
              </a:rPr>
              <a:t>프로젝트 포인트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4608576"/>
            <a:ext cx="4498848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926"/>
                </a:solidFill>
                <a:latin typeface="Noto Sans CJK KR"/>
              </a:rPr>
              <a:t>학습 데이터만 맞추는 것이 아니라, 새 데이터에도 같은 전처리와 feature schema를 적용해 결과를 낼 수 있게 구성했습니다.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886200"/>
            <a:ext cx="5065776" cy="1444752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4160520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97316"/>
                </a:solidFill>
                <a:latin typeface="Noto Sans CJK KR"/>
              </a:rPr>
              <a:t>산출물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608576"/>
            <a:ext cx="437083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926"/>
                </a:solidFill>
                <a:latin typeface="Noto Sans CJK KR"/>
              </a:rPr>
              <a:t>metrics JSON, confusion matrix, feature importance, distribution 그래프와 최종 PDF/PPT를 생성했습니다.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8BCDA"/>
                </a:solidFill>
                <a:latin typeface="Noto Sans CJK KR"/>
              </a:rPr>
              <a:t>THREE MAIN EXPERIMENTS + TWO BENCHMARKS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사용 데이터셋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43584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417320"/>
            <a:ext cx="310896" cy="310896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99616"/>
            <a:ext cx="146304" cy="146304"/>
          </a:xfrm>
          <a:prstGeom prst="round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6152" y="1371600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Mendeley phone sensor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6152" y="1636776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8BCDA"/>
                </a:solidFill>
                <a:latin typeface="Noto Sans CJK KR"/>
              </a:rPr>
              <a:t>14,249 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6272" y="1636776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normal/aggressive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" y="1911095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standardized k-NN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43584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7992" y="1417320"/>
            <a:ext cx="310896" cy="310896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1499616"/>
            <a:ext cx="146304" cy="1463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371600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OBD-II/CAN Driving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636776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10B981"/>
                </a:solidFill>
                <a:latin typeface="Noto Sans CJK KR"/>
              </a:rPr>
              <a:t>555,000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636776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moderate/aggressive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1911095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standardized class centroid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1243584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417320"/>
            <a:ext cx="310896" cy="310896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11896" y="1499616"/>
            <a:ext cx="146304" cy="14630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59368" y="1371600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Vehicle Maintenance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9368" y="1636776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F97316"/>
                </a:solidFill>
                <a:latin typeface="Noto Sans CJK KR"/>
              </a:rPr>
              <a:t>1,970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9488" y="1636776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normal/issue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59368" y="1911095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robust z-score anomaly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2788920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" y="2962656"/>
            <a:ext cx="310896" cy="310896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3044952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16152" y="2916936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KIT Automotive OBD-II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3182112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Noto Sans CJK KR"/>
              </a:rPr>
              <a:t>81 trip 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76272" y="3182112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normal/free_flow/traffic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2" y="3456432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trip-level class centroid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2788920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07992" y="2962656"/>
            <a:ext cx="310896" cy="310896"/>
          </a:xfrm>
          <a:prstGeom prst="roundRect">
            <a:avLst/>
          </a:prstGeom>
          <a:solidFill>
            <a:srgbClr val="F2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90288" y="3044952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2916936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AI4I 2020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182112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Noto Sans CJK KR"/>
              </a:rPr>
              <a:t>10,000 rows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3182112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normal/failure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3456432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predictive maintenance benchmark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5008" y="2788920"/>
            <a:ext cx="345643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0" y="2962656"/>
            <a:ext cx="310896" cy="310896"/>
          </a:xfrm>
          <a:prstGeom prst="roundRect">
            <a:avLst/>
          </a:prstGeom>
          <a:solidFill>
            <a:srgbClr val="FF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11896" y="3044952"/>
            <a:ext cx="146304" cy="14630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59368" y="2916936"/>
            <a:ext cx="26974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926"/>
                </a:solidFill>
                <a:latin typeface="Noto Sans CJK KR"/>
              </a:rPr>
              <a:t>APS Failure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59368" y="3182112"/>
            <a:ext cx="96012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EC4899"/>
                </a:solidFill>
                <a:latin typeface="Noto Sans CJK KR"/>
              </a:rPr>
              <a:t>76,000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19488" y="3182112"/>
            <a:ext cx="16916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606E80"/>
                </a:solidFill>
                <a:latin typeface="Noto Sans CJK KR"/>
              </a:rPr>
              <a:t>download verified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59368" y="3456432"/>
            <a:ext cx="2606040" cy="1828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0">
                <a:solidFill>
                  <a:srgbClr val="141926"/>
                </a:solidFill>
                <a:latin typeface="Noto Sans CJK KR"/>
              </a:rPr>
              <a:t>excluded from final model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5047488"/>
            <a:ext cx="10716768" cy="768096"/>
          </a:xfrm>
          <a:prstGeom prst="round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7552" y="5266944"/>
            <a:ext cx="10058400" cy="210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926"/>
                </a:solidFill>
                <a:latin typeface="Noto Sans CJK KR"/>
              </a:rPr>
              <a:t>APS는 다운로드와 무결성은 확인했지만 feature가 익명화되어 차량 상태 설명력이 낮아 최종 모델에서는 제외했습니다.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97316"/>
                </a:solidFill>
                <a:latin typeface="Noto Sans CJK KR"/>
              </a:rPr>
              <a:t>WHAT HAPPENS BEFORE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전처리와 알고리즘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25296"/>
            <a:ext cx="5212080" cy="4572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591056"/>
            <a:ext cx="43891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97316"/>
                </a:solidFill>
                <a:latin typeface="Noto Sans CJK KR"/>
              </a:rPr>
              <a:t>학습 전 데이터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103120"/>
            <a:ext cx="4526280" cy="566928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2249424"/>
            <a:ext cx="420624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97316"/>
                </a:solidFill>
                <a:latin typeface="Noto Sans CJK KR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2212848"/>
            <a:ext cx="95097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F97316"/>
                </a:solidFill>
                <a:latin typeface="Noto Sans CJK KR"/>
              </a:rPr>
              <a:t>컬럼 매핑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2203703"/>
            <a:ext cx="233172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30" b="0">
                <a:solidFill>
                  <a:srgbClr val="141926"/>
                </a:solidFill>
                <a:latin typeface="Noto Sans CJK KR"/>
              </a:rPr>
              <a:t>원천 CSV/ZIP을 표준 feature명으로 통일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2834640"/>
            <a:ext cx="4526280" cy="566928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70432" y="2980944"/>
            <a:ext cx="420624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8BCDA"/>
                </a:solidFill>
                <a:latin typeface="Noto Sans CJK KR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2944368"/>
            <a:ext cx="95097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08BCDA"/>
                </a:solidFill>
                <a:latin typeface="Noto Sans CJK KR"/>
              </a:rPr>
              <a:t>정제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6352" y="2935224"/>
            <a:ext cx="233172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30" b="0">
                <a:solidFill>
                  <a:srgbClr val="141926"/>
                </a:solidFill>
                <a:latin typeface="Noto Sans CJK KR"/>
              </a:rPr>
              <a:t>수치형 변환, 결측 행 제거, 필수 feature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566160"/>
            <a:ext cx="4526280" cy="566928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70432" y="3712463"/>
            <a:ext cx="420624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Noto Sans CJK KR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5648" y="3675887"/>
            <a:ext cx="95097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563EB"/>
                </a:solidFill>
                <a:latin typeface="Noto Sans CJK KR"/>
              </a:rPr>
              <a:t>라벨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3666744"/>
            <a:ext cx="233172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30" b="0">
                <a:solidFill>
                  <a:srgbClr val="141926"/>
                </a:solidFill>
                <a:latin typeface="Noto Sans CJK KR"/>
              </a:rPr>
              <a:t>주행 습관·정비 상태 라벨을 모델 target으로 변환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297680"/>
            <a:ext cx="4526280" cy="566928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4443984"/>
            <a:ext cx="420624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Noto Sans CJK KR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5648" y="4407408"/>
            <a:ext cx="950976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10B981"/>
                </a:solidFill>
                <a:latin typeface="Noto Sans CJK KR"/>
              </a:rPr>
              <a:t>분리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4398264"/>
            <a:ext cx="233172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30" b="0">
                <a:solidFill>
                  <a:srgbClr val="141926"/>
                </a:solidFill>
                <a:latin typeface="Noto Sans CJK KR"/>
              </a:rPr>
              <a:t>train/test 75/25 stratified split, seed=42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5230368"/>
            <a:ext cx="438912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606E80"/>
                </a:solidFill>
                <a:latin typeface="Noto Sans CJK KR"/>
              </a:rPr>
              <a:t>같은 전처리 schema를 새 데이터에도 적용해 실험 간 비교가 가능하도록 구성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225296"/>
            <a:ext cx="5212080" cy="4572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19672" y="1591056"/>
            <a:ext cx="43891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Noto Sans CJK KR"/>
              </a:rPr>
              <a:t>머신러닝 활용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9672" y="2121408"/>
            <a:ext cx="1371600" cy="274320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08BCDA"/>
                </a:solidFill>
                <a:latin typeface="Noto Sans CJK KR"/>
              </a:rPr>
              <a:t>k-NN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2103120"/>
            <a:ext cx="27614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41926"/>
                </a:solidFill>
                <a:latin typeface="Noto Sans CJK KR"/>
              </a:rPr>
              <a:t>Mendeley 센서를 표준화하고 가까운 학습 샘플 다수결로 주행 습관 분류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9672" y="3200400"/>
            <a:ext cx="1371600" cy="2743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2563EB"/>
                </a:solidFill>
                <a:latin typeface="Noto Sans CJK KR"/>
              </a:rPr>
              <a:t>Class centroid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3" y="3182112"/>
            <a:ext cx="27614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41926"/>
                </a:solidFill>
                <a:latin typeface="Noto Sans CJK KR"/>
              </a:rPr>
              <a:t>클래스별 평균 벡터를 학습하고 새 데이터는 가장 가까운 중심으로 분류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9672" y="4279392"/>
            <a:ext cx="1371600" cy="274320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rm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F97316"/>
                </a:solidFill>
                <a:latin typeface="Noto Sans CJK KR"/>
              </a:rPr>
              <a:t>Robust z-score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01583" y="4261104"/>
            <a:ext cx="27614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141926"/>
                </a:solidFill>
                <a:latin typeface="Noto Sans CJK KR"/>
              </a:rPr>
              <a:t>정상 정비 데이터의 median/MAD로 정상 범위 이탈을 issue로 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8BCDA"/>
                </a:solidFill>
                <a:latin typeface="Noto Sans CJK KR"/>
              </a:rPr>
              <a:t>RESULT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Mendeley 스마트폰 센서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2743200" cy="5120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72768"/>
            <a:ext cx="2103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8BCDA"/>
                </a:solidFill>
                <a:latin typeface="Noto Sans CJK KR"/>
              </a:rPr>
              <a:t>핵심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011680"/>
            <a:ext cx="2359152" cy="676656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103120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8BCDA"/>
                </a:solidFill>
                <a:latin typeface="Noto Sans CJK KR"/>
              </a:rPr>
              <a:t>0.826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395728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98064"/>
            <a:ext cx="2359152" cy="676656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889504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0B981"/>
                </a:solidFill>
                <a:latin typeface="Noto Sans CJK KR"/>
              </a:rPr>
              <a:t>0.818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82112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Macro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84448"/>
            <a:ext cx="2359152" cy="676656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75887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10687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68496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Train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480560"/>
            <a:ext cx="2249424" cy="27432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18304"/>
            <a:ext cx="2286000" cy="10607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가속도/자이로 기반 분류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standardized k-NN 적용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센서 기반 기준선 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1261872"/>
            <a:ext cx="3675887" cy="73152"/>
          </a:xfrm>
          <a:prstGeom prst="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3008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예측 결과</a:t>
            </a:r>
          </a:p>
        </p:txBody>
      </p:sp>
      <p:pic>
        <p:nvPicPr>
          <p:cNvPr id="24" name="Picture 23" descr="mendeley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752" y="1627631"/>
            <a:ext cx="2436368" cy="199339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60920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261872"/>
            <a:ext cx="3675887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88936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판단 근거</a:t>
            </a:r>
          </a:p>
        </p:txBody>
      </p:sp>
      <p:pic>
        <p:nvPicPr>
          <p:cNvPr id="28" name="Picture 27" descr="mendeley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49" y="1627631"/>
            <a:ext cx="2907030" cy="199339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364992" y="4059936"/>
            <a:ext cx="7671816" cy="21214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64992" y="4059936"/>
            <a:ext cx="76718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93008" y="4178808"/>
            <a:ext cx="7415784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센서 분포</a:t>
            </a:r>
          </a:p>
        </p:txBody>
      </p:sp>
      <p:pic>
        <p:nvPicPr>
          <p:cNvPr id="32" name="Picture 31" descr="mendeley_sensor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471" y="4425696"/>
            <a:ext cx="3918857" cy="16459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Noto Sans CJK KR"/>
              </a:rPr>
              <a:t>RESULT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OBD-II/CAN 운전 습관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2743200" cy="5120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72768"/>
            <a:ext cx="2103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Noto Sans CJK KR"/>
              </a:rPr>
              <a:t>핵심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011680"/>
            <a:ext cx="2359152" cy="676656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103120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8BCDA"/>
                </a:solidFill>
                <a:latin typeface="Noto Sans CJK KR"/>
              </a:rPr>
              <a:t>0.976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395728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98064"/>
            <a:ext cx="2359152" cy="676656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889504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0B981"/>
                </a:solidFill>
                <a:latin typeface="Noto Sans CJK KR"/>
              </a:rPr>
              <a:t>0.965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82112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Macro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84448"/>
            <a:ext cx="2359152" cy="676656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75887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416251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68496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Train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480560"/>
            <a:ext cx="2249424" cy="27432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18304"/>
            <a:ext cx="2286000" cy="10607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차량 내부 신호 사용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class centroid 분류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가장 안정적인 결과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1261872"/>
            <a:ext cx="3675887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3008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예측 결과</a:t>
            </a:r>
          </a:p>
        </p:txBody>
      </p:sp>
      <p:pic>
        <p:nvPicPr>
          <p:cNvPr id="24" name="Picture 23" descr="obd_ca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752" y="1627631"/>
            <a:ext cx="2436368" cy="199339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60920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261872"/>
            <a:ext cx="3675887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88936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판단 근거</a:t>
            </a:r>
          </a:p>
        </p:txBody>
      </p:sp>
      <p:pic>
        <p:nvPicPr>
          <p:cNvPr id="28" name="Picture 27" descr="obd_can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49" y="1627631"/>
            <a:ext cx="2907030" cy="199339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364992" y="4059936"/>
            <a:ext cx="7671816" cy="21214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64992" y="4059936"/>
            <a:ext cx="7671816" cy="73152"/>
          </a:xfrm>
          <a:prstGeom prst="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93008" y="4178808"/>
            <a:ext cx="7415784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전처리 패턴</a:t>
            </a:r>
          </a:p>
        </p:txBody>
      </p:sp>
      <p:pic>
        <p:nvPicPr>
          <p:cNvPr id="32" name="Picture 31" descr="obd_can_featur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282" y="4425696"/>
            <a:ext cx="3997234" cy="1645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97316"/>
                </a:solidFill>
                <a:latin typeface="Noto Sans CJK KR"/>
              </a:rPr>
              <a:t>RESULT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Vehicle Maintenance 이상 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2743200" cy="5120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72768"/>
            <a:ext cx="2103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97316"/>
                </a:solidFill>
                <a:latin typeface="Noto Sans CJK KR"/>
              </a:rPr>
              <a:t>핵심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011680"/>
            <a:ext cx="2359152" cy="676656"/>
          </a:xfrm>
          <a:prstGeom prst="roundRect">
            <a:avLst/>
          </a:prstGeom>
          <a:solidFill>
            <a:srgbClr val="E2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103120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8BCDA"/>
                </a:solidFill>
                <a:latin typeface="Noto Sans CJK KR"/>
              </a:rPr>
              <a:t>0.978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395728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98064"/>
            <a:ext cx="2359152" cy="676656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889504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97316"/>
                </a:solidFill>
                <a:latin typeface="Noto Sans CJK KR"/>
              </a:rPr>
              <a:t>0.791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82112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Macro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84448"/>
            <a:ext cx="2359152" cy="676656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75887"/>
            <a:ext cx="91440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0.123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68496"/>
            <a:ext cx="1938528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606E80"/>
                </a:solidFill>
                <a:latin typeface="Noto Sans CJK KR"/>
              </a:rPr>
              <a:t>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480560"/>
            <a:ext cx="2249424" cy="27432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18304"/>
            <a:ext cx="2286000" cy="10607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정상 telemetry 기준 학습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정상 범위 이탈을 issue로 판정</a:t>
            </a:r>
          </a:p>
          <a:p>
            <a:pPr algn="l">
              <a:spcAft>
                <a:spcPts val="200"/>
              </a:spcAft>
            </a:pPr>
            <a:r>
              <a:rPr sz="869" b="0">
                <a:solidFill>
                  <a:srgbClr val="141926"/>
                </a:solidFill>
                <a:latin typeface="Noto Sans CJK KR"/>
              </a:rPr>
              <a:t>• issue recall 1.000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4992" y="1261872"/>
            <a:ext cx="3675887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3008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예측 결과</a:t>
            </a:r>
          </a:p>
        </p:txBody>
      </p:sp>
      <p:pic>
        <p:nvPicPr>
          <p:cNvPr id="24" name="Picture 23" descr="vehicle_maintenanc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752" y="1627631"/>
            <a:ext cx="2436368" cy="199339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60920" y="1261872"/>
            <a:ext cx="3675887" cy="24688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261872"/>
            <a:ext cx="3675887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88936" y="1380743"/>
            <a:ext cx="341985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판단 근거</a:t>
            </a:r>
          </a:p>
        </p:txBody>
      </p:sp>
      <p:pic>
        <p:nvPicPr>
          <p:cNvPr id="28" name="Picture 27" descr="vehicle_maintenance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49" y="1627631"/>
            <a:ext cx="2907030" cy="199339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364992" y="4059936"/>
            <a:ext cx="7671816" cy="21214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64992" y="4059936"/>
            <a:ext cx="7671816" cy="73152"/>
          </a:xfrm>
          <a:prstGeom prst="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93008" y="4178808"/>
            <a:ext cx="7415784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06E80"/>
                </a:solidFill>
                <a:latin typeface="Noto Sans CJK KR"/>
              </a:rPr>
              <a:t>전처리 패턴</a:t>
            </a:r>
          </a:p>
        </p:txBody>
      </p:sp>
      <p:pic>
        <p:nvPicPr>
          <p:cNvPr id="32" name="Picture 31" descr="vehicle_maintenance_featur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974" y="4425696"/>
            <a:ext cx="5995851" cy="1645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03152" y="502920"/>
            <a:ext cx="310896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7392" y="502920"/>
            <a:ext cx="201168" cy="201168"/>
          </a:xfrm>
          <a:prstGeom prst="roundRect">
            <a:avLst/>
          </a:prstGeom>
          <a:solidFill>
            <a:srgbClr val="F5B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Noto Sans CJK KR"/>
              </a:rPr>
              <a:t>SCORECARD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"/>
            <a:ext cx="8412480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1926"/>
                </a:solidFill>
                <a:latin typeface="Noto Sans CJK KR"/>
              </a:rPr>
              <a:t>최종 결론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43584"/>
            <a:ext cx="5084064" cy="41879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1581912"/>
            <a:ext cx="4389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926"/>
                </a:solidFill>
                <a:latin typeface="Noto Sans CJK KR"/>
              </a:rPr>
              <a:t>Macro F1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2139696"/>
            <a:ext cx="16002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141926"/>
                </a:solidFill>
                <a:latin typeface="Noto Sans CJK KR"/>
              </a:rPr>
              <a:t>OBD-II/CAN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194560"/>
            <a:ext cx="2121408" cy="164592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2194560"/>
            <a:ext cx="2047156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2130552"/>
            <a:ext cx="49377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Noto Sans CJK KR"/>
              </a:rPr>
              <a:t>0.965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2660903"/>
            <a:ext cx="16002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141926"/>
                </a:solidFill>
                <a:latin typeface="Noto Sans CJK KR"/>
              </a:rPr>
              <a:t>Mendeley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715768"/>
            <a:ext cx="2121408" cy="164592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80" y="2715768"/>
            <a:ext cx="1736060" cy="164592"/>
          </a:xfrm>
          <a:prstGeom prst="roundRect">
            <a:avLst/>
          </a:prstGeom>
          <a:solidFill>
            <a:srgbClr val="08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651760"/>
            <a:ext cx="49377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8BCDA"/>
                </a:solidFill>
                <a:latin typeface="Noto Sans CJK KR"/>
              </a:rPr>
              <a:t>0.818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" y="3182111"/>
            <a:ext cx="16002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141926"/>
                </a:solidFill>
                <a:latin typeface="Noto Sans CJK KR"/>
              </a:rPr>
              <a:t>Vehicle Maintenance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236975"/>
            <a:ext cx="2121408" cy="164592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3236975"/>
            <a:ext cx="1677051" cy="1645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3172968"/>
            <a:ext cx="49377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97316"/>
                </a:solidFill>
                <a:latin typeface="Noto Sans CJK KR"/>
              </a:rPr>
              <a:t>0.791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3703320"/>
            <a:ext cx="16002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141926"/>
                </a:solidFill>
                <a:latin typeface="Noto Sans CJK KR"/>
              </a:rPr>
              <a:t>AI4I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758183"/>
            <a:ext cx="2121408" cy="164592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97480" y="3758183"/>
            <a:ext cx="1052464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3694175"/>
            <a:ext cx="49377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Noto Sans CJK KR"/>
              </a:rPr>
              <a:t>0.496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" y="4224528"/>
            <a:ext cx="16002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69" b="1">
                <a:solidFill>
                  <a:srgbClr val="141926"/>
                </a:solidFill>
                <a:latin typeface="Noto Sans CJK KR"/>
              </a:rPr>
              <a:t>KIT OBD-II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279392"/>
            <a:ext cx="2121408" cy="164592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97480" y="4279392"/>
            <a:ext cx="890317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0" y="4215383"/>
            <a:ext cx="49377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Noto Sans CJK KR"/>
              </a:rPr>
              <a:t>0.420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243584"/>
            <a:ext cx="5230368" cy="1572768"/>
          </a:xfrm>
          <a:prstGeom prst="roundRect">
            <a:avLst/>
          </a:prstGeom>
          <a:solidFill>
            <a:srgbClr val="E6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2" y="1554480"/>
            <a:ext cx="4389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0B981"/>
                </a:solidFill>
                <a:latin typeface="Noto Sans CJK KR"/>
              </a:rPr>
              <a:t>핵심 성과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2" y="1984248"/>
            <a:ext cx="4251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여러 데이터셋을 같은 평가 흐름으로 비교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분류와 이상 탐지를 함께 활용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그래프와 보고서 자동 생성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127248"/>
            <a:ext cx="5230368" cy="1572768"/>
          </a:xfrm>
          <a:prstGeom prst="roundRect">
            <a:avLst/>
          </a:prstGeom>
          <a:solidFill>
            <a:srgbClr val="FF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3952" y="3438144"/>
            <a:ext cx="4389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97316"/>
                </a:solidFill>
                <a:latin typeface="Noto Sans CJK KR"/>
              </a:rPr>
              <a:t>다음 단계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3952" y="3867912"/>
            <a:ext cx="42519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KIT OBD-II 추가 라벨 데이터 확보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실제 차량 고장/정비 라벨 확장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926"/>
                </a:solidFill>
                <a:latin typeface="Noto Sans CJK KR"/>
              </a:rPr>
              <a:t>• 시계열 모델과 실시간 적용 구조로 개선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806440"/>
            <a:ext cx="10698480" cy="5029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" y="5943600"/>
            <a:ext cx="1001268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>
            <a:normAutofit/>
          </a:bodyPr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2563EB"/>
                </a:solidFill>
                <a:latin typeface="Noto Sans CJK KR"/>
              </a:rPr>
              <a:t>수업자료 연결: 데이터 전처리, 지도학습 분류, 이상 탐지, 성능 평가, 시각화를 실제 프로젝트 흐름으로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